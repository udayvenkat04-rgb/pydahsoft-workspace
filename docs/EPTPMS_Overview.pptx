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73478"/>
          </a:solidFill>
          <a:ln/>
        </p:spPr>
      </p:sp>
      <p:sp>
        <p:nvSpPr>
          <p:cNvPr id="3" name="Shape 1"/>
          <p:cNvSpPr/>
          <p:nvPr/>
        </p:nvSpPr>
        <p:spPr>
          <a:xfrm>
            <a:off x="-1645920" y="4754880"/>
            <a:ext cx="3657600" cy="3657600"/>
          </a:xfrm>
          <a:prstGeom prst="ellipse">
            <a:avLst/>
          </a:prstGeom>
          <a:solidFill>
            <a:srgbClr val="273478"/>
          </a:solidFill>
          <a:ln/>
        </p:spPr>
      </p:sp>
      <p:sp>
        <p:nvSpPr>
          <p:cNvPr id="4" name="Text 2"/>
          <p:cNvSpPr txBox="1"/>
          <p:nvPr/>
        </p:nvSpPr>
        <p:spPr>
          <a:xfrm>
            <a:off x="731520" y="1371600"/>
            <a:ext cx="7315200" cy="365760"/>
          </a:xfrm>
          <a:prstGeom prst="rect">
            <a:avLst/>
          </a:prstGeom>
          <a:noFill/>
          <a:ln/>
        </p:spPr>
        <p:txBody>
          <a:bodyPr wrap="square" lIns="0" tIns="0" rIns="0" bIns="0" rtlCol="0" anchor="ctr"/>
          <a:lstStyle/>
          <a:p>
            <a:pPr indent="0" marL="0">
              <a:buNone/>
            </a:pPr>
            <a:r>
              <a:rPr lang="en-US" sz="1300" spc="200" kern="0" dirty="0">
                <a:solidFill>
                  <a:srgbClr val="CADCFC"/>
                </a:solidFill>
                <a:latin typeface="Calibri" pitchFamily="34" charset="0"/>
                <a:ea typeface="Calibri" pitchFamily="34" charset="-122"/>
                <a:cs typeface="Calibri" pitchFamily="34" charset="-120"/>
              </a:rPr>
              <a:t>EPTPMS  ·  INTERNAL SYSTEM SPEC</a:t>
            </a:r>
            <a:endParaRPr lang="en-US" sz="1300" dirty="0"/>
          </a:p>
        </p:txBody>
      </p:sp>
      <p:sp>
        <p:nvSpPr>
          <p:cNvPr id="5" name="Text 3"/>
          <p:cNvSpPr txBox="1"/>
          <p:nvPr/>
        </p:nvSpPr>
        <p:spPr>
          <a:xfrm>
            <a:off x="731520" y="1828800"/>
            <a:ext cx="105156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Employee Project, Task &amp;</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Performance Management System</a:t>
            </a:r>
            <a:endParaRPr lang="en-US" sz="4000" dirty="0"/>
          </a:p>
        </p:txBody>
      </p:sp>
      <p:sp>
        <p:nvSpPr>
          <p:cNvPr id="6" name="Text 4"/>
          <p:cNvSpPr txBox="1"/>
          <p:nvPr/>
        </p:nvSpPr>
        <p:spPr>
          <a:xfrm>
            <a:off x="731520" y="3794760"/>
            <a:ext cx="9144000" cy="822960"/>
          </a:xfrm>
          <a:prstGeom prst="rect">
            <a:avLst/>
          </a:prstGeom>
          <a:noFill/>
          <a:ln/>
        </p:spPr>
        <p:txBody>
          <a:bodyPr wrap="square" lIns="0" tIns="0" rIns="0" bIns="0" rtlCol="0" anchor="ctr"/>
          <a:lstStyle/>
          <a:p>
            <a:pPr indent="0" marL="0">
              <a:lnSpc>
                <a:spcPct val="120000"/>
              </a:lnSpc>
              <a:buNone/>
            </a:pPr>
            <a:r>
              <a:rPr lang="en-US" sz="1600" i="1" dirty="0">
                <a:solidFill>
                  <a:srgbClr val="CADCFC"/>
                </a:solidFill>
                <a:latin typeface="Calibri" pitchFamily="34" charset="0"/>
                <a:ea typeface="Calibri" pitchFamily="34" charset="-122"/>
                <a:cs typeface="Calibri" pitchFamily="34" charset="-120"/>
              </a:rPr>
              <a:t>A Project Lifecycle, Team Task Management, Time Tracking</a:t>
            </a:r>
            <a:endParaRPr lang="en-US" sz="1600" dirty="0"/>
          </a:p>
          <a:p>
            <a:pPr indent="0" marL="0">
              <a:lnSpc>
                <a:spcPct val="120000"/>
              </a:lnSpc>
              <a:buNone/>
            </a:pPr>
            <a:r>
              <a:rPr lang="en-US" sz="1600" i="1" dirty="0">
                <a:solidFill>
                  <a:srgbClr val="CADCFC"/>
                </a:solidFill>
                <a:latin typeface="Calibri" pitchFamily="34" charset="0"/>
                <a:ea typeface="Calibri" pitchFamily="34" charset="-122"/>
                <a:cs typeface="Calibri" pitchFamily="34" charset="-120"/>
              </a:rPr>
              <a:t>and Employee Performance Analytics Platform</a:t>
            </a:r>
            <a:endParaRPr lang="en-US" sz="1600" dirty="0"/>
          </a:p>
        </p:txBody>
      </p:sp>
      <p:sp>
        <p:nvSpPr>
          <p:cNvPr id="7" name="Shape 5"/>
          <p:cNvSpPr/>
          <p:nvPr/>
        </p:nvSpPr>
        <p:spPr>
          <a:xfrm>
            <a:off x="731520" y="4892040"/>
            <a:ext cx="2011680" cy="0"/>
          </a:xfrm>
          <a:prstGeom prst="line">
            <a:avLst/>
          </a:prstGeom>
          <a:noFill/>
          <a:ln w="38100">
            <a:solidFill>
              <a:srgbClr val="4A5FD9"/>
            </a:solidFill>
            <a:prstDash val="solid"/>
          </a:ln>
        </p:spPr>
      </p:sp>
      <p:sp>
        <p:nvSpPr>
          <p:cNvPr id="8" name="Text 6"/>
          <p:cNvSpPr txBox="1"/>
          <p:nvPr/>
        </p:nvSpPr>
        <p:spPr>
          <a:xfrm>
            <a:off x="731520" y="5074920"/>
            <a:ext cx="8229600" cy="365760"/>
          </a:xfrm>
          <a:prstGeom prst="rect">
            <a:avLst/>
          </a:prstGeom>
          <a:noFill/>
          <a:ln/>
        </p:spPr>
        <p:txBody>
          <a:bodyPr wrap="square" lIns="0" tIns="0" rIns="0" bIns="0" rtlCol="0" anchor="ctr"/>
          <a:lstStyle/>
          <a:p>
            <a:pPr indent="0" marL="0">
              <a:buNone/>
            </a:pPr>
            <a:r>
              <a:rPr lang="en-US" sz="1200" dirty="0">
                <a:solidFill>
                  <a:srgbClr val="9FB0E8"/>
                </a:solidFill>
                <a:latin typeface="Calibri" pitchFamily="34" charset="0"/>
                <a:ea typeface="Calibri" pitchFamily="34" charset="-122"/>
                <a:cs typeface="Calibri" pitchFamily="34" charset="-120"/>
              </a:rPr>
              <a:t>Version 1.0   |   Functional &amp; Technical Specification Overview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Is This System?</a:t>
            </a:r>
            <a:endParaRPr lang="en-US" sz="3000" dirty="0"/>
          </a:p>
        </p:txBody>
      </p:sp>
      <p:sp>
        <p:nvSpPr>
          <p:cNvPr id="3" name="Text 1"/>
          <p:cNvSpPr txBox="1"/>
          <p:nvPr/>
        </p:nvSpPr>
        <p:spPr>
          <a:xfrm>
            <a:off x="548640" y="932688"/>
            <a:ext cx="91440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Executive Summary</a:t>
            </a:r>
            <a:endParaRPr lang="en-US" sz="1400" dirty="0"/>
          </a:p>
        </p:txBody>
      </p:sp>
      <p:sp>
        <p:nvSpPr>
          <p:cNvPr id="4" name="Text 2"/>
          <p:cNvSpPr txBox="1"/>
          <p:nvPr/>
        </p:nvSpPr>
        <p:spPr>
          <a:xfrm>
            <a:off x="548640" y="1417320"/>
            <a:ext cx="11064240" cy="914400"/>
          </a:xfrm>
          <a:prstGeom prst="rect">
            <a:avLst/>
          </a:prstGeom>
          <a:noFill/>
          <a:ln/>
        </p:spPr>
        <p:txBody>
          <a:bodyPr wrap="square" lIns="0" tIns="0" rIns="0" bIns="0" rtlCol="0" anchor="ctr"/>
          <a:lstStyle/>
          <a:p>
            <a:pPr indent="0" marL="0">
              <a:lnSpc>
                <a:spcPct val="125000"/>
              </a:lnSpc>
              <a:buNone/>
            </a:pPr>
            <a:r>
              <a:rPr lang="en-US" sz="1450" dirty="0">
                <a:solidFill>
                  <a:srgbClr val="222633"/>
                </a:solidFill>
                <a:latin typeface="Calibri" pitchFamily="34" charset="0"/>
                <a:ea typeface="Calibri" pitchFamily="34" charset="-122"/>
                <a:cs typeface="Calibri" pitchFamily="34" charset="-120"/>
              </a:rPr>
              <a:t>It manages a company's projects across their full lifecycle — from Superior assignment, through team formation and daily task execution, to time tracking and performance analytics. Every entity is traceable back to its originating project and forward to the performance data it produces.</a:t>
            </a:r>
            <a:endParaRPr lang="en-US" sz="1450" dirty="0"/>
          </a:p>
        </p:txBody>
      </p:sp>
      <p:sp>
        <p:nvSpPr>
          <p:cNvPr id="5" name="Text 3"/>
          <p:cNvSpPr txBox="1"/>
          <p:nvPr/>
        </p:nvSpPr>
        <p:spPr>
          <a:xfrm>
            <a:off x="548640" y="2514600"/>
            <a:ext cx="9144000" cy="274320"/>
          </a:xfrm>
          <a:prstGeom prst="rect">
            <a:avLst/>
          </a:prstGeom>
          <a:noFill/>
          <a:ln/>
        </p:spPr>
        <p:txBody>
          <a:bodyPr wrap="square" lIns="0" tIns="0" rIns="0" bIns="0" rtlCol="0" anchor="ctr"/>
          <a:lstStyle/>
          <a:p>
            <a:pPr indent="0" marL="0">
              <a:buNone/>
            </a:pPr>
            <a:r>
              <a:rPr lang="en-US" sz="1200" b="1" spc="100" kern="0" dirty="0">
                <a:solidFill>
                  <a:srgbClr val="4A5FD9"/>
                </a:solidFill>
                <a:latin typeface="Calibri" pitchFamily="34" charset="0"/>
                <a:ea typeface="Calibri" pitchFamily="34" charset="-122"/>
                <a:cs typeface="Calibri" pitchFamily="34" charset="-120"/>
              </a:rPr>
              <a:t>THE UNBROKEN CHAIN OF ACCOUNTABILITY</a:t>
            </a:r>
            <a:endParaRPr lang="en-US" sz="1200" dirty="0"/>
          </a:p>
        </p:txBody>
      </p:sp>
      <p:sp>
        <p:nvSpPr>
          <p:cNvPr id="6" name="Shape 4"/>
          <p:cNvSpPr/>
          <p:nvPr/>
        </p:nvSpPr>
        <p:spPr>
          <a:xfrm>
            <a:off x="548640" y="2971800"/>
            <a:ext cx="932688" cy="960120"/>
          </a:xfrm>
          <a:prstGeom prst="roundRect">
            <a:avLst>
              <a:gd name="adj" fmla="val 7843"/>
            </a:avLst>
          </a:prstGeom>
          <a:solidFill>
            <a:srgbClr val="1E2761"/>
          </a:solidFill>
          <a:ln/>
        </p:spPr>
      </p:sp>
      <p:sp>
        <p:nvSpPr>
          <p:cNvPr id="7" name="Text 5"/>
          <p:cNvSpPr txBox="1"/>
          <p:nvPr/>
        </p:nvSpPr>
        <p:spPr>
          <a:xfrm>
            <a:off x="548640"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Superior</a:t>
            </a:r>
            <a:endParaRPr lang="en-US" sz="950" dirty="0"/>
          </a:p>
        </p:txBody>
      </p:sp>
      <p:sp>
        <p:nvSpPr>
          <p:cNvPr id="8" name="Text 6"/>
          <p:cNvSpPr txBox="1"/>
          <p:nvPr/>
        </p:nvSpPr>
        <p:spPr>
          <a:xfrm>
            <a:off x="1481328"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572768" y="2971800"/>
            <a:ext cx="932688" cy="960120"/>
          </a:xfrm>
          <a:prstGeom prst="roundRect">
            <a:avLst>
              <a:gd name="adj" fmla="val 7843"/>
            </a:avLst>
          </a:prstGeom>
          <a:solidFill>
            <a:srgbClr val="334299"/>
          </a:solidFill>
          <a:ln/>
        </p:spPr>
      </p:sp>
      <p:sp>
        <p:nvSpPr>
          <p:cNvPr id="10" name="Text 8"/>
          <p:cNvSpPr txBox="1"/>
          <p:nvPr/>
        </p:nvSpPr>
        <p:spPr>
          <a:xfrm>
            <a:off x="1572768"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Project</a:t>
            </a:r>
            <a:endParaRPr lang="en-US" sz="950" dirty="0"/>
          </a:p>
        </p:txBody>
      </p:sp>
      <p:sp>
        <p:nvSpPr>
          <p:cNvPr id="11" name="Text 9"/>
          <p:cNvSpPr txBox="1"/>
          <p:nvPr/>
        </p:nvSpPr>
        <p:spPr>
          <a:xfrm>
            <a:off x="2505456"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596896" y="2971800"/>
            <a:ext cx="932688" cy="960120"/>
          </a:xfrm>
          <a:prstGeom prst="roundRect">
            <a:avLst>
              <a:gd name="adj" fmla="val 7843"/>
            </a:avLst>
          </a:prstGeom>
          <a:solidFill>
            <a:srgbClr val="1E2761"/>
          </a:solidFill>
          <a:ln/>
        </p:spPr>
      </p:sp>
      <p:sp>
        <p:nvSpPr>
          <p:cNvPr id="13" name="Text 11"/>
          <p:cNvSpPr txBox="1"/>
          <p:nvPr/>
        </p:nvSpPr>
        <p:spPr>
          <a:xfrm>
            <a:off x="2596896"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Team</a:t>
            </a:r>
            <a:endParaRPr lang="en-US" sz="950" dirty="0"/>
          </a:p>
        </p:txBody>
      </p:sp>
      <p:sp>
        <p:nvSpPr>
          <p:cNvPr id="14" name="Text 12"/>
          <p:cNvSpPr txBox="1"/>
          <p:nvPr/>
        </p:nvSpPr>
        <p:spPr>
          <a:xfrm>
            <a:off x="3529584"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3621024" y="2971800"/>
            <a:ext cx="932688" cy="960120"/>
          </a:xfrm>
          <a:prstGeom prst="roundRect">
            <a:avLst>
              <a:gd name="adj" fmla="val 7843"/>
            </a:avLst>
          </a:prstGeom>
          <a:solidFill>
            <a:srgbClr val="334299"/>
          </a:solidFill>
          <a:ln/>
        </p:spPr>
      </p:sp>
      <p:sp>
        <p:nvSpPr>
          <p:cNvPr id="16" name="Text 14"/>
          <p:cNvSpPr txBox="1"/>
          <p:nvPr/>
        </p:nvSpPr>
        <p:spPr>
          <a:xfrm>
            <a:off x="3621024"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Team Lead</a:t>
            </a:r>
            <a:endParaRPr lang="en-US" sz="950" dirty="0"/>
          </a:p>
        </p:txBody>
      </p:sp>
      <p:sp>
        <p:nvSpPr>
          <p:cNvPr id="17" name="Text 15"/>
          <p:cNvSpPr txBox="1"/>
          <p:nvPr/>
        </p:nvSpPr>
        <p:spPr>
          <a:xfrm>
            <a:off x="4553712"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4645152" y="2971800"/>
            <a:ext cx="932688" cy="960120"/>
          </a:xfrm>
          <a:prstGeom prst="roundRect">
            <a:avLst>
              <a:gd name="adj" fmla="val 7843"/>
            </a:avLst>
          </a:prstGeom>
          <a:solidFill>
            <a:srgbClr val="1E2761"/>
          </a:solidFill>
          <a:ln/>
        </p:spPr>
      </p:sp>
      <p:sp>
        <p:nvSpPr>
          <p:cNvPr id="19" name="Text 17"/>
          <p:cNvSpPr txBox="1"/>
          <p:nvPr/>
        </p:nvSpPr>
        <p:spPr>
          <a:xfrm>
            <a:off x="4645152"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Team</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Members</a:t>
            </a:r>
            <a:endParaRPr lang="en-US" sz="950" dirty="0"/>
          </a:p>
        </p:txBody>
      </p:sp>
      <p:sp>
        <p:nvSpPr>
          <p:cNvPr id="20" name="Text 18"/>
          <p:cNvSpPr txBox="1"/>
          <p:nvPr/>
        </p:nvSpPr>
        <p:spPr>
          <a:xfrm>
            <a:off x="5577840"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5669280" y="2971800"/>
            <a:ext cx="932688" cy="960120"/>
          </a:xfrm>
          <a:prstGeom prst="roundRect">
            <a:avLst>
              <a:gd name="adj" fmla="val 7843"/>
            </a:avLst>
          </a:prstGeom>
          <a:solidFill>
            <a:srgbClr val="334299"/>
          </a:solidFill>
          <a:ln/>
        </p:spPr>
      </p:sp>
      <p:sp>
        <p:nvSpPr>
          <p:cNvPr id="22" name="Text 20"/>
          <p:cNvSpPr txBox="1"/>
          <p:nvPr/>
        </p:nvSpPr>
        <p:spPr>
          <a:xfrm>
            <a:off x="5669280"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Daily</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Tasks</a:t>
            </a:r>
            <a:endParaRPr lang="en-US" sz="950" dirty="0"/>
          </a:p>
        </p:txBody>
      </p:sp>
      <p:sp>
        <p:nvSpPr>
          <p:cNvPr id="23" name="Text 21"/>
          <p:cNvSpPr txBox="1"/>
          <p:nvPr/>
        </p:nvSpPr>
        <p:spPr>
          <a:xfrm>
            <a:off x="6601968"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6693408" y="2971800"/>
            <a:ext cx="932688" cy="960120"/>
          </a:xfrm>
          <a:prstGeom prst="roundRect">
            <a:avLst>
              <a:gd name="adj" fmla="val 7843"/>
            </a:avLst>
          </a:prstGeom>
          <a:solidFill>
            <a:srgbClr val="1E2761"/>
          </a:solidFill>
          <a:ln/>
        </p:spPr>
      </p:sp>
      <p:sp>
        <p:nvSpPr>
          <p:cNvPr id="25" name="Text 23"/>
          <p:cNvSpPr txBox="1"/>
          <p:nvPr/>
        </p:nvSpPr>
        <p:spPr>
          <a:xfrm>
            <a:off x="6693408"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Time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Tracking</a:t>
            </a:r>
            <a:endParaRPr lang="en-US" sz="950" dirty="0"/>
          </a:p>
        </p:txBody>
      </p:sp>
      <p:sp>
        <p:nvSpPr>
          <p:cNvPr id="26" name="Text 24"/>
          <p:cNvSpPr txBox="1"/>
          <p:nvPr/>
        </p:nvSpPr>
        <p:spPr>
          <a:xfrm>
            <a:off x="7626096"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7717536" y="2971800"/>
            <a:ext cx="932688" cy="960120"/>
          </a:xfrm>
          <a:prstGeom prst="roundRect">
            <a:avLst>
              <a:gd name="adj" fmla="val 7843"/>
            </a:avLst>
          </a:prstGeom>
          <a:solidFill>
            <a:srgbClr val="334299"/>
          </a:solidFill>
          <a:ln/>
        </p:spPr>
      </p:sp>
      <p:sp>
        <p:nvSpPr>
          <p:cNvPr id="28" name="Text 26"/>
          <p:cNvSpPr txBox="1"/>
          <p:nvPr/>
        </p:nvSpPr>
        <p:spPr>
          <a:xfrm>
            <a:off x="7717536"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Task</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Completion</a:t>
            </a:r>
            <a:endParaRPr lang="en-US" sz="950" dirty="0"/>
          </a:p>
        </p:txBody>
      </p:sp>
      <p:sp>
        <p:nvSpPr>
          <p:cNvPr id="29" name="Text 27"/>
          <p:cNvSpPr txBox="1"/>
          <p:nvPr/>
        </p:nvSpPr>
        <p:spPr>
          <a:xfrm>
            <a:off x="8650224"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8741664" y="2971800"/>
            <a:ext cx="932688" cy="960120"/>
          </a:xfrm>
          <a:prstGeom prst="roundRect">
            <a:avLst>
              <a:gd name="adj" fmla="val 7843"/>
            </a:avLst>
          </a:prstGeom>
          <a:solidFill>
            <a:srgbClr val="1E2761"/>
          </a:solidFill>
          <a:ln/>
        </p:spPr>
      </p:sp>
      <p:sp>
        <p:nvSpPr>
          <p:cNvPr id="31" name="Text 29"/>
          <p:cNvSpPr txBox="1"/>
          <p:nvPr/>
        </p:nvSpPr>
        <p:spPr>
          <a:xfrm>
            <a:off x="8741664"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Completion</a:t>
            </a:r>
            <a:endParaRPr lang="en-US" sz="950" dirty="0"/>
          </a:p>
        </p:txBody>
      </p:sp>
      <p:sp>
        <p:nvSpPr>
          <p:cNvPr id="32" name="Text 30"/>
          <p:cNvSpPr txBox="1"/>
          <p:nvPr/>
        </p:nvSpPr>
        <p:spPr>
          <a:xfrm>
            <a:off x="9674352"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9765792" y="2971800"/>
            <a:ext cx="932688" cy="960120"/>
          </a:xfrm>
          <a:prstGeom prst="roundRect">
            <a:avLst>
              <a:gd name="adj" fmla="val 7843"/>
            </a:avLst>
          </a:prstGeom>
          <a:solidFill>
            <a:srgbClr val="334299"/>
          </a:solidFill>
          <a:ln/>
        </p:spPr>
      </p:sp>
      <p:sp>
        <p:nvSpPr>
          <p:cNvPr id="34" name="Text 32"/>
          <p:cNvSpPr txBox="1"/>
          <p:nvPr/>
        </p:nvSpPr>
        <p:spPr>
          <a:xfrm>
            <a:off x="9765792"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Employee</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Performance</a:t>
            </a:r>
            <a:endParaRPr lang="en-US" sz="950" dirty="0"/>
          </a:p>
        </p:txBody>
      </p:sp>
      <p:sp>
        <p:nvSpPr>
          <p:cNvPr id="35" name="Text 33"/>
          <p:cNvSpPr txBox="1"/>
          <p:nvPr/>
        </p:nvSpPr>
        <p:spPr>
          <a:xfrm>
            <a:off x="10698480" y="2971800"/>
            <a:ext cx="91440" cy="960120"/>
          </a:xfrm>
          <a:prstGeom prst="rect">
            <a:avLst/>
          </a:prstGeom>
          <a:noFill/>
          <a:ln/>
        </p:spPr>
        <p:txBody>
          <a:bodyPr wrap="square" lIns="0" tIns="0" rIns="0" bIns="0" rtlCol="0" anchor="ctr"/>
          <a:lstStyle/>
          <a:p>
            <a:pPr algn="ctr" indent="0" marL="0">
              <a:buNone/>
            </a:pPr>
            <a:r>
              <a:rPr lang="en-US" sz="1400" b="1" dirty="0">
                <a:solidFill>
                  <a:srgbClr val="6B7280"/>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10789920" y="2971800"/>
            <a:ext cx="932688" cy="960120"/>
          </a:xfrm>
          <a:prstGeom prst="roundRect">
            <a:avLst>
              <a:gd name="adj" fmla="val 7843"/>
            </a:avLst>
          </a:prstGeom>
          <a:solidFill>
            <a:srgbClr val="4A5FD9"/>
          </a:solidFill>
          <a:ln/>
        </p:spPr>
      </p:sp>
      <p:sp>
        <p:nvSpPr>
          <p:cNvPr id="37" name="Text 35"/>
          <p:cNvSpPr txBox="1"/>
          <p:nvPr/>
        </p:nvSpPr>
        <p:spPr>
          <a:xfrm>
            <a:off x="10789920" y="2971800"/>
            <a:ext cx="932688" cy="960120"/>
          </a:xfrm>
          <a:prstGeom prst="rect">
            <a:avLst/>
          </a:prstGeom>
          <a:noFill/>
          <a:ln/>
        </p:spPr>
        <p:txBody>
          <a:bodyPr wrap="square" lIns="25400" tIns="25400" rIns="25400" bIns="2540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Reports</a:t>
            </a:r>
            <a:endParaRPr lang="en-US" sz="950" dirty="0"/>
          </a:p>
        </p:txBody>
      </p:sp>
      <p:sp>
        <p:nvSpPr>
          <p:cNvPr id="38" name="Shape 36"/>
          <p:cNvSpPr/>
          <p:nvPr/>
        </p:nvSpPr>
        <p:spPr>
          <a:xfrm>
            <a:off x="548640" y="4343400"/>
            <a:ext cx="11064240" cy="1508760"/>
          </a:xfrm>
          <a:prstGeom prst="roundRect">
            <a:avLst>
              <a:gd name="adj" fmla="val 4848"/>
            </a:avLst>
          </a:prstGeom>
          <a:solidFill>
            <a:srgbClr val="F4F6FC"/>
          </a:solidFill>
          <a:ln/>
        </p:spPr>
      </p:sp>
      <p:sp>
        <p:nvSpPr>
          <p:cNvPr id="39" name="Text 37"/>
          <p:cNvSpPr txBox="1"/>
          <p:nvPr/>
        </p:nvSpPr>
        <p:spPr>
          <a:xfrm>
            <a:off x="868680" y="4553712"/>
            <a:ext cx="1042416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This is not a simple to-do / task tracker.</a:t>
            </a:r>
            <a:endParaRPr lang="en-US" sz="1600" dirty="0"/>
          </a:p>
        </p:txBody>
      </p:sp>
      <p:sp>
        <p:nvSpPr>
          <p:cNvPr id="40" name="Text 38"/>
          <p:cNvSpPr txBox="1"/>
          <p:nvPr/>
        </p:nvSpPr>
        <p:spPr>
          <a:xfrm>
            <a:off x="868680" y="4956048"/>
            <a:ext cx="10424160" cy="777240"/>
          </a:xfrm>
          <a:prstGeom prst="rect">
            <a:avLst/>
          </a:prstGeom>
          <a:noFill/>
          <a:ln/>
        </p:spPr>
        <p:txBody>
          <a:bodyPr wrap="square" lIns="0" tIns="0" rIns="0" bIns="0" rtlCol="0" anchor="ctr"/>
          <a:lstStyle/>
          <a:p>
            <a:pPr indent="0" marL="0">
              <a:lnSpc>
                <a:spcPct val="125000"/>
              </a:lnSpc>
              <a:buNone/>
            </a:pPr>
            <a:r>
              <a:rPr lang="en-US" sz="1300" dirty="0">
                <a:solidFill>
                  <a:srgbClr val="222633"/>
                </a:solidFill>
                <a:latin typeface="Calibri" pitchFamily="34" charset="0"/>
                <a:ea typeface="Calibri" pitchFamily="34" charset="-122"/>
                <a:cs typeface="Calibri" pitchFamily="34" charset="-120"/>
              </a:rPr>
              <a:t>It is a Project Lifecycle, Team Task Management, Time Tracking, and Employee Performance Analytics Platform — with a full historical/audit trail so any data point can be traced back to who did what, when, and how long it took.</a:t>
            </a:r>
            <a:endParaRPr lang="en-US" sz="1300" dirty="0"/>
          </a:p>
        </p:txBody>
      </p:sp>
      <p:sp>
        <p:nvSpPr>
          <p:cNvPr id="41" name="Text 39"/>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Employee Project, Task &amp; Performance Management System</a:t>
            </a:r>
            <a:endParaRPr lang="en-US" sz="1000" dirty="0"/>
          </a:p>
        </p:txBody>
      </p:sp>
      <p:sp>
        <p:nvSpPr>
          <p:cNvPr id="42" name="Text 40"/>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Objectives</a:t>
            </a:r>
            <a:endParaRPr lang="en-US" sz="3000" dirty="0"/>
          </a:p>
        </p:txBody>
      </p:sp>
      <p:sp>
        <p:nvSpPr>
          <p:cNvPr id="3" name="Text 1"/>
          <p:cNvSpPr txBox="1"/>
          <p:nvPr/>
        </p:nvSpPr>
        <p:spPr>
          <a:xfrm>
            <a:off x="548640" y="932688"/>
            <a:ext cx="91440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What the system is designed to achieve</a:t>
            </a:r>
            <a:endParaRPr lang="en-US" sz="1400" dirty="0"/>
          </a:p>
        </p:txBody>
      </p:sp>
      <p:sp>
        <p:nvSpPr>
          <p:cNvPr id="4" name="Shape 2"/>
          <p:cNvSpPr/>
          <p:nvPr/>
        </p:nvSpPr>
        <p:spPr>
          <a:xfrm>
            <a:off x="548640" y="1508760"/>
            <a:ext cx="502920" cy="502920"/>
          </a:xfrm>
          <a:prstGeom prst="ellipse">
            <a:avLst/>
          </a:prstGeom>
          <a:solidFill>
            <a:srgbClr val="1E2761"/>
          </a:solidFill>
          <a:ln/>
        </p:spPr>
      </p:sp>
      <p:sp>
        <p:nvSpPr>
          <p:cNvPr id="5"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280160" y="1481328"/>
            <a:ext cx="36576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Full Visibility</a:t>
            </a:r>
            <a:endParaRPr lang="en-US" sz="1500" dirty="0"/>
          </a:p>
        </p:txBody>
      </p:sp>
      <p:sp>
        <p:nvSpPr>
          <p:cNvPr id="7" name="Text 5"/>
          <p:cNvSpPr txBox="1"/>
          <p:nvPr/>
        </p:nvSpPr>
        <p:spPr>
          <a:xfrm>
            <a:off x="1280160" y="1801368"/>
            <a:ext cx="10149840" cy="502920"/>
          </a:xfrm>
          <a:prstGeom prst="rect">
            <a:avLst/>
          </a:prstGeom>
          <a:noFill/>
          <a:ln/>
        </p:spPr>
        <p:txBody>
          <a:bodyPr wrap="square" lIns="0" tIns="0" rIns="0" bIns="0" rtlCol="0" anchor="ctr"/>
          <a:lstStyle/>
          <a:p>
            <a:pPr indent="0" marL="0">
              <a:lnSpc>
                <a:spcPct val="115000"/>
              </a:lnSpc>
              <a:buNone/>
            </a:pPr>
            <a:r>
              <a:rPr lang="en-US" sz="1250" dirty="0">
                <a:solidFill>
                  <a:srgbClr val="222633"/>
                </a:solidFill>
                <a:latin typeface="Calibri" pitchFamily="34" charset="0"/>
                <a:ea typeface="Calibri" pitchFamily="34" charset="-122"/>
                <a:cs typeface="Calibri" pitchFamily="34" charset="-120"/>
              </a:rPr>
              <a:t>Give a Superior full visibility from project assignment down to individual task-level effort.</a:t>
            </a:r>
            <a:endParaRPr lang="en-US" sz="1250" dirty="0"/>
          </a:p>
        </p:txBody>
      </p:sp>
      <p:sp>
        <p:nvSpPr>
          <p:cNvPr id="8" name="Shape 6"/>
          <p:cNvSpPr/>
          <p:nvPr/>
        </p:nvSpPr>
        <p:spPr>
          <a:xfrm>
            <a:off x="548640" y="2331720"/>
            <a:ext cx="10881360" cy="0"/>
          </a:xfrm>
          <a:prstGeom prst="line">
            <a:avLst/>
          </a:prstGeom>
          <a:noFill/>
          <a:ln w="12700">
            <a:solidFill>
              <a:srgbClr val="E5E7EB"/>
            </a:solidFill>
            <a:prstDash val="solid"/>
          </a:ln>
        </p:spPr>
      </p:sp>
      <p:sp>
        <p:nvSpPr>
          <p:cNvPr id="9" name="Shape 7"/>
          <p:cNvSpPr/>
          <p:nvPr/>
        </p:nvSpPr>
        <p:spPr>
          <a:xfrm>
            <a:off x="548640" y="2441448"/>
            <a:ext cx="502920" cy="502920"/>
          </a:xfrm>
          <a:prstGeom prst="ellipse">
            <a:avLst/>
          </a:prstGeom>
          <a:solidFill>
            <a:srgbClr val="4A5FD9"/>
          </a:solidFill>
          <a:ln/>
        </p:spPr>
      </p:sp>
      <p:sp>
        <p:nvSpPr>
          <p:cNvPr id="10" name="Text 8"/>
          <p:cNvSpPr txBox="1"/>
          <p:nvPr/>
        </p:nvSpPr>
        <p:spPr>
          <a:xfrm>
            <a:off x="548640" y="244144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280160" y="2414016"/>
            <a:ext cx="36576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Team Lead Tools</a:t>
            </a:r>
            <a:endParaRPr lang="en-US" sz="1500" dirty="0"/>
          </a:p>
        </p:txBody>
      </p:sp>
      <p:sp>
        <p:nvSpPr>
          <p:cNvPr id="12" name="Text 10"/>
          <p:cNvSpPr txBox="1"/>
          <p:nvPr/>
        </p:nvSpPr>
        <p:spPr>
          <a:xfrm>
            <a:off x="1280160" y="2734056"/>
            <a:ext cx="10149840" cy="502920"/>
          </a:xfrm>
          <a:prstGeom prst="rect">
            <a:avLst/>
          </a:prstGeom>
          <a:noFill/>
          <a:ln/>
        </p:spPr>
        <p:txBody>
          <a:bodyPr wrap="square" lIns="0" tIns="0" rIns="0" bIns="0" rtlCol="0" anchor="ctr"/>
          <a:lstStyle/>
          <a:p>
            <a:pPr indent="0" marL="0">
              <a:lnSpc>
                <a:spcPct val="115000"/>
              </a:lnSpc>
              <a:buNone/>
            </a:pPr>
            <a:r>
              <a:rPr lang="en-US" sz="1250" dirty="0">
                <a:solidFill>
                  <a:srgbClr val="222633"/>
                </a:solidFill>
                <a:latin typeface="Calibri" pitchFamily="34" charset="0"/>
                <a:ea typeface="Calibri" pitchFamily="34" charset="-122"/>
                <a:cs typeface="Calibri" pitchFamily="34" charset="-120"/>
              </a:rPr>
              <a:t>Give Team Leads the tools to break projects into modules and tasks, assign daily work, and review completion.</a:t>
            </a:r>
            <a:endParaRPr lang="en-US" sz="1250" dirty="0"/>
          </a:p>
        </p:txBody>
      </p:sp>
      <p:sp>
        <p:nvSpPr>
          <p:cNvPr id="13" name="Shape 11"/>
          <p:cNvSpPr/>
          <p:nvPr/>
        </p:nvSpPr>
        <p:spPr>
          <a:xfrm>
            <a:off x="548640" y="3264408"/>
            <a:ext cx="10881360" cy="0"/>
          </a:xfrm>
          <a:prstGeom prst="line">
            <a:avLst/>
          </a:prstGeom>
          <a:noFill/>
          <a:ln w="12700">
            <a:solidFill>
              <a:srgbClr val="E5E7EB"/>
            </a:solidFill>
            <a:prstDash val="solid"/>
          </a:ln>
        </p:spPr>
      </p:sp>
      <p:sp>
        <p:nvSpPr>
          <p:cNvPr id="14" name="Shape 12"/>
          <p:cNvSpPr/>
          <p:nvPr/>
        </p:nvSpPr>
        <p:spPr>
          <a:xfrm>
            <a:off x="548640" y="3374136"/>
            <a:ext cx="502920" cy="502920"/>
          </a:xfrm>
          <a:prstGeom prst="ellipse">
            <a:avLst/>
          </a:prstGeom>
          <a:solidFill>
            <a:srgbClr val="1E2761"/>
          </a:solidFill>
          <a:ln/>
        </p:spPr>
      </p:sp>
      <p:sp>
        <p:nvSpPr>
          <p:cNvPr id="15" name="Text 13"/>
          <p:cNvSpPr txBox="1"/>
          <p:nvPr/>
        </p:nvSpPr>
        <p:spPr>
          <a:xfrm>
            <a:off x="548640" y="337413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txBox="1"/>
          <p:nvPr/>
        </p:nvSpPr>
        <p:spPr>
          <a:xfrm>
            <a:off x="1280160" y="3346704"/>
            <a:ext cx="36576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Focused Employee View</a:t>
            </a:r>
            <a:endParaRPr lang="en-US" sz="1500" dirty="0"/>
          </a:p>
        </p:txBody>
      </p:sp>
      <p:sp>
        <p:nvSpPr>
          <p:cNvPr id="17" name="Text 15"/>
          <p:cNvSpPr txBox="1"/>
          <p:nvPr/>
        </p:nvSpPr>
        <p:spPr>
          <a:xfrm>
            <a:off x="1280160" y="3666744"/>
            <a:ext cx="10149840" cy="502920"/>
          </a:xfrm>
          <a:prstGeom prst="rect">
            <a:avLst/>
          </a:prstGeom>
          <a:noFill/>
          <a:ln/>
        </p:spPr>
        <p:txBody>
          <a:bodyPr wrap="square" lIns="0" tIns="0" rIns="0" bIns="0" rtlCol="0" anchor="ctr"/>
          <a:lstStyle/>
          <a:p>
            <a:pPr indent="0" marL="0">
              <a:lnSpc>
                <a:spcPct val="115000"/>
              </a:lnSpc>
              <a:buNone/>
            </a:pPr>
            <a:r>
              <a:rPr lang="en-US" sz="1250" dirty="0">
                <a:solidFill>
                  <a:srgbClr val="222633"/>
                </a:solidFill>
                <a:latin typeface="Calibri" pitchFamily="34" charset="0"/>
                <a:ea typeface="Calibri" pitchFamily="34" charset="-122"/>
                <a:cs typeface="Calibri" pitchFamily="34" charset="-120"/>
              </a:rPr>
              <a:t>Give Employees a simple, focused view of what they need to do each day, with time tracking built in.</a:t>
            </a:r>
            <a:endParaRPr lang="en-US" sz="1250" dirty="0"/>
          </a:p>
        </p:txBody>
      </p:sp>
      <p:sp>
        <p:nvSpPr>
          <p:cNvPr id="18" name="Shape 16"/>
          <p:cNvSpPr/>
          <p:nvPr/>
        </p:nvSpPr>
        <p:spPr>
          <a:xfrm>
            <a:off x="548640" y="4197096"/>
            <a:ext cx="10881360" cy="0"/>
          </a:xfrm>
          <a:prstGeom prst="line">
            <a:avLst/>
          </a:prstGeom>
          <a:noFill/>
          <a:ln w="12700">
            <a:solidFill>
              <a:srgbClr val="E5E7EB"/>
            </a:solidFill>
            <a:prstDash val="solid"/>
          </a:ln>
        </p:spPr>
      </p:sp>
      <p:sp>
        <p:nvSpPr>
          <p:cNvPr id="19" name="Shape 17"/>
          <p:cNvSpPr/>
          <p:nvPr/>
        </p:nvSpPr>
        <p:spPr>
          <a:xfrm>
            <a:off x="548640" y="4306824"/>
            <a:ext cx="502920" cy="502920"/>
          </a:xfrm>
          <a:prstGeom prst="ellipse">
            <a:avLst/>
          </a:prstGeom>
          <a:solidFill>
            <a:srgbClr val="4A5FD9"/>
          </a:solidFill>
          <a:ln/>
        </p:spPr>
      </p:sp>
      <p:sp>
        <p:nvSpPr>
          <p:cNvPr id="20" name="Text 18"/>
          <p:cNvSpPr txBox="1"/>
          <p:nvPr/>
        </p:nvSpPr>
        <p:spPr>
          <a:xfrm>
            <a:off x="548640" y="43068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1" name="Text 19"/>
          <p:cNvSpPr txBox="1"/>
          <p:nvPr/>
        </p:nvSpPr>
        <p:spPr>
          <a:xfrm>
            <a:off x="1280160" y="4279392"/>
            <a:ext cx="36576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Performance Analytics</a:t>
            </a:r>
            <a:endParaRPr lang="en-US" sz="1500" dirty="0"/>
          </a:p>
        </p:txBody>
      </p:sp>
      <p:sp>
        <p:nvSpPr>
          <p:cNvPr id="22" name="Text 20"/>
          <p:cNvSpPr txBox="1"/>
          <p:nvPr/>
        </p:nvSpPr>
        <p:spPr>
          <a:xfrm>
            <a:off x="1280160" y="4599432"/>
            <a:ext cx="10149840" cy="502920"/>
          </a:xfrm>
          <a:prstGeom prst="rect">
            <a:avLst/>
          </a:prstGeom>
          <a:noFill/>
          <a:ln/>
        </p:spPr>
        <p:txBody>
          <a:bodyPr wrap="square" lIns="0" tIns="0" rIns="0" bIns="0" rtlCol="0" anchor="ctr"/>
          <a:lstStyle/>
          <a:p>
            <a:pPr indent="0" marL="0">
              <a:lnSpc>
                <a:spcPct val="115000"/>
              </a:lnSpc>
              <a:buNone/>
            </a:pPr>
            <a:r>
              <a:rPr lang="en-US" sz="1250" dirty="0">
                <a:solidFill>
                  <a:srgbClr val="222633"/>
                </a:solidFill>
                <a:latin typeface="Calibri" pitchFamily="34" charset="0"/>
                <a:ea typeface="Calibri" pitchFamily="34" charset="-122"/>
                <a:cs typeface="Calibri" pitchFamily="34" charset="-120"/>
              </a:rPr>
              <a:t>Convert raw task and time data into meaningful performance analytics and reports at every level.</a:t>
            </a:r>
            <a:endParaRPr lang="en-US" sz="1250" dirty="0"/>
          </a:p>
        </p:txBody>
      </p:sp>
      <p:sp>
        <p:nvSpPr>
          <p:cNvPr id="23" name="Shape 21"/>
          <p:cNvSpPr/>
          <p:nvPr/>
        </p:nvSpPr>
        <p:spPr>
          <a:xfrm>
            <a:off x="548640" y="5129784"/>
            <a:ext cx="10881360" cy="0"/>
          </a:xfrm>
          <a:prstGeom prst="line">
            <a:avLst/>
          </a:prstGeom>
          <a:noFill/>
          <a:ln w="12700">
            <a:solidFill>
              <a:srgbClr val="E5E7EB"/>
            </a:solidFill>
            <a:prstDash val="solid"/>
          </a:ln>
        </p:spPr>
      </p:sp>
      <p:sp>
        <p:nvSpPr>
          <p:cNvPr id="24" name="Shape 22"/>
          <p:cNvSpPr/>
          <p:nvPr/>
        </p:nvSpPr>
        <p:spPr>
          <a:xfrm>
            <a:off x="548640" y="5239512"/>
            <a:ext cx="502920" cy="502920"/>
          </a:xfrm>
          <a:prstGeom prst="ellipse">
            <a:avLst/>
          </a:prstGeom>
          <a:solidFill>
            <a:srgbClr val="1E2761"/>
          </a:solidFill>
          <a:ln/>
        </p:spPr>
      </p:sp>
      <p:sp>
        <p:nvSpPr>
          <p:cNvPr id="25" name="Text 23"/>
          <p:cNvSpPr txBox="1"/>
          <p:nvPr/>
        </p:nvSpPr>
        <p:spPr>
          <a:xfrm>
            <a:off x="548640" y="52395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1280160" y="5212080"/>
            <a:ext cx="365760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Full Audit Trail</a:t>
            </a:r>
            <a:endParaRPr lang="en-US" sz="1500" dirty="0"/>
          </a:p>
        </p:txBody>
      </p:sp>
      <p:sp>
        <p:nvSpPr>
          <p:cNvPr id="27" name="Text 25"/>
          <p:cNvSpPr txBox="1"/>
          <p:nvPr/>
        </p:nvSpPr>
        <p:spPr>
          <a:xfrm>
            <a:off x="1280160" y="5532120"/>
            <a:ext cx="10149840" cy="502920"/>
          </a:xfrm>
          <a:prstGeom prst="rect">
            <a:avLst/>
          </a:prstGeom>
          <a:noFill/>
          <a:ln/>
        </p:spPr>
        <p:txBody>
          <a:bodyPr wrap="square" lIns="0" tIns="0" rIns="0" bIns="0" rtlCol="0" anchor="ctr"/>
          <a:lstStyle/>
          <a:p>
            <a:pPr indent="0" marL="0">
              <a:lnSpc>
                <a:spcPct val="115000"/>
              </a:lnSpc>
              <a:buNone/>
            </a:pPr>
            <a:r>
              <a:rPr lang="en-US" sz="1250" dirty="0">
                <a:solidFill>
                  <a:srgbClr val="222633"/>
                </a:solidFill>
                <a:latin typeface="Calibri" pitchFamily="34" charset="0"/>
                <a:ea typeface="Calibri" pitchFamily="34" charset="-122"/>
                <a:cs typeface="Calibri" pitchFamily="34" charset="-120"/>
              </a:rPr>
              <a:t>Preserve a full historical trail so any data point can be traced back to who did what, when, and how long it took.</a:t>
            </a:r>
            <a:endParaRPr lang="en-US" sz="1250" dirty="0"/>
          </a:p>
        </p:txBody>
      </p:sp>
      <p:sp>
        <p:nvSpPr>
          <p:cNvPr id="28" name="Text 26"/>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Employee Project, Task &amp; Performance Management System</a:t>
            </a:r>
            <a:endParaRPr lang="en-US" sz="1000" dirty="0"/>
          </a:p>
        </p:txBody>
      </p:sp>
      <p:sp>
        <p:nvSpPr>
          <p:cNvPr id="29" name="Text 2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C"/>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Roles &amp; Permissions</a:t>
            </a:r>
            <a:endParaRPr lang="en-US" sz="3000" dirty="0"/>
          </a:p>
        </p:txBody>
      </p:sp>
      <p:sp>
        <p:nvSpPr>
          <p:cNvPr id="3" name="Text 1"/>
          <p:cNvSpPr txBox="1"/>
          <p:nvPr/>
        </p:nvSpPr>
        <p:spPr>
          <a:xfrm>
            <a:off x="548640" y="932688"/>
            <a:ext cx="91440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Three primary roles, each with a distinct scope of responsibility</a:t>
            </a:r>
            <a:endParaRPr lang="en-US" sz="1400" dirty="0"/>
          </a:p>
        </p:txBody>
      </p:sp>
      <p:sp>
        <p:nvSpPr>
          <p:cNvPr id="4" name="Shape 2"/>
          <p:cNvSpPr/>
          <p:nvPr/>
        </p:nvSpPr>
        <p:spPr>
          <a:xfrm>
            <a:off x="548640" y="1508760"/>
            <a:ext cx="3520440" cy="4617720"/>
          </a:xfrm>
          <a:prstGeom prst="roundRect">
            <a:avLst>
              <a:gd name="adj" fmla="val 2597"/>
            </a:avLst>
          </a:prstGeom>
          <a:solidFill>
            <a:srgbClr val="FFFFFF"/>
          </a:solidFill>
          <a:ln/>
          <a:effectLst>
            <a:outerShdw sx="100000" sy="100000" kx="0" ky="0" algn="bl" rotWithShape="0" blurRad="101600" dist="38100" dir="5400000">
              <a:srgbClr val="999999">
                <a:alpha val="25000"/>
              </a:srgbClr>
            </a:outerShdw>
          </a:effectLst>
        </p:spPr>
      </p:sp>
      <p:sp>
        <p:nvSpPr>
          <p:cNvPr id="5" name="Shape 3"/>
          <p:cNvSpPr/>
          <p:nvPr/>
        </p:nvSpPr>
        <p:spPr>
          <a:xfrm>
            <a:off x="548640" y="1508760"/>
            <a:ext cx="3520440" cy="960120"/>
          </a:xfrm>
          <a:prstGeom prst="roundRect">
            <a:avLst>
              <a:gd name="adj" fmla="val 9524"/>
            </a:avLst>
          </a:prstGeom>
          <a:solidFill>
            <a:srgbClr val="1E2761"/>
          </a:solidFill>
          <a:ln/>
        </p:spPr>
      </p:sp>
      <p:sp>
        <p:nvSpPr>
          <p:cNvPr id="6" name="Shape 4"/>
          <p:cNvSpPr/>
          <p:nvPr/>
        </p:nvSpPr>
        <p:spPr>
          <a:xfrm>
            <a:off x="548640" y="2011680"/>
            <a:ext cx="3520440" cy="457200"/>
          </a:xfrm>
          <a:prstGeom prst="rect">
            <a:avLst/>
          </a:prstGeom>
          <a:solidFill>
            <a:srgbClr val="1E2761"/>
          </a:solidFill>
          <a:ln/>
        </p:spPr>
      </p:sp>
      <p:sp>
        <p:nvSpPr>
          <p:cNvPr id="7" name="Shape 5"/>
          <p:cNvSpPr/>
          <p:nvPr/>
        </p:nvSpPr>
        <p:spPr>
          <a:xfrm>
            <a:off x="777240" y="1737360"/>
            <a:ext cx="502920" cy="502920"/>
          </a:xfrm>
          <a:prstGeom prst="ellipse">
            <a:avLst/>
          </a:prstGeom>
          <a:solidFill>
            <a:srgbClr val="FFFFFF"/>
          </a:solidFill>
          <a:ln/>
        </p:spPr>
      </p:sp>
      <p:sp>
        <p:nvSpPr>
          <p:cNvPr id="8" name="Text 6"/>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800" b="1" dirty="0">
                <a:solidFill>
                  <a:srgbClr val="1E2761"/>
                </a:solidFill>
                <a:latin typeface="Calibri" pitchFamily="34" charset="0"/>
                <a:ea typeface="Calibri" pitchFamily="34" charset="-122"/>
                <a:cs typeface="Calibri" pitchFamily="34" charset="-120"/>
              </a:rPr>
              <a:t>1</a:t>
            </a:r>
            <a:endParaRPr lang="en-US" sz="1800" dirty="0"/>
          </a:p>
        </p:txBody>
      </p:sp>
      <p:sp>
        <p:nvSpPr>
          <p:cNvPr id="9" name="Text 7"/>
          <p:cNvSpPr txBox="1"/>
          <p:nvPr/>
        </p:nvSpPr>
        <p:spPr>
          <a:xfrm>
            <a:off x="1417320" y="1673352"/>
            <a:ext cx="25146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Superior / Manager</a:t>
            </a:r>
            <a:endParaRPr lang="en-US" sz="1600" dirty="0"/>
          </a:p>
        </p:txBody>
      </p:sp>
      <p:sp>
        <p:nvSpPr>
          <p:cNvPr id="10" name="Text 8"/>
          <p:cNvSpPr txBox="1"/>
          <p:nvPr/>
        </p:nvSpPr>
        <p:spPr>
          <a:xfrm>
            <a:off x="1417320" y="2020824"/>
            <a:ext cx="2514600" cy="27432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Org-wide authority</a:t>
            </a:r>
            <a:endParaRPr lang="en-US" sz="1050" dirty="0"/>
          </a:p>
        </p:txBody>
      </p:sp>
      <p:sp>
        <p:nvSpPr>
          <p:cNvPr id="11" name="Shape 9"/>
          <p:cNvSpPr/>
          <p:nvPr/>
        </p:nvSpPr>
        <p:spPr>
          <a:xfrm>
            <a:off x="804672" y="2779776"/>
            <a:ext cx="82296" cy="82296"/>
          </a:xfrm>
          <a:prstGeom prst="ellipse">
            <a:avLst/>
          </a:prstGeom>
          <a:solidFill>
            <a:srgbClr val="1E2761"/>
          </a:solidFill>
          <a:ln/>
        </p:spPr>
      </p:sp>
      <p:sp>
        <p:nvSpPr>
          <p:cNvPr id="12" name="Text 10"/>
          <p:cNvSpPr txBox="1"/>
          <p:nvPr/>
        </p:nvSpPr>
        <p:spPr>
          <a:xfrm>
            <a:off x="1005840" y="2697480"/>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Create &amp; assign projects</a:t>
            </a:r>
            <a:endParaRPr lang="en-US" sz="1200" dirty="0"/>
          </a:p>
        </p:txBody>
      </p:sp>
      <p:sp>
        <p:nvSpPr>
          <p:cNvPr id="13" name="Shape 11"/>
          <p:cNvSpPr/>
          <p:nvPr/>
        </p:nvSpPr>
        <p:spPr>
          <a:xfrm>
            <a:off x="804672" y="3438144"/>
            <a:ext cx="82296" cy="82296"/>
          </a:xfrm>
          <a:prstGeom prst="ellipse">
            <a:avLst/>
          </a:prstGeom>
          <a:solidFill>
            <a:srgbClr val="1E2761"/>
          </a:solidFill>
          <a:ln/>
        </p:spPr>
      </p:sp>
      <p:sp>
        <p:nvSpPr>
          <p:cNvPr id="14" name="Text 12"/>
          <p:cNvSpPr txBox="1"/>
          <p:nvPr/>
        </p:nvSpPr>
        <p:spPr>
          <a:xfrm>
            <a:off x="1005840" y="3355848"/>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Form teams, assign Team Leads</a:t>
            </a:r>
            <a:endParaRPr lang="en-US" sz="1200" dirty="0"/>
          </a:p>
        </p:txBody>
      </p:sp>
      <p:sp>
        <p:nvSpPr>
          <p:cNvPr id="15" name="Shape 13"/>
          <p:cNvSpPr/>
          <p:nvPr/>
        </p:nvSpPr>
        <p:spPr>
          <a:xfrm>
            <a:off x="804672" y="4096512"/>
            <a:ext cx="82296" cy="82296"/>
          </a:xfrm>
          <a:prstGeom prst="ellipse">
            <a:avLst/>
          </a:prstGeom>
          <a:solidFill>
            <a:srgbClr val="1E2761"/>
          </a:solidFill>
          <a:ln/>
        </p:spPr>
      </p:sp>
      <p:sp>
        <p:nvSpPr>
          <p:cNvPr id="16" name="Text 14"/>
          <p:cNvSpPr txBox="1"/>
          <p:nvPr/>
        </p:nvSpPr>
        <p:spPr>
          <a:xfrm>
            <a:off x="1005840" y="4014216"/>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View all employees &amp; progress</a:t>
            </a:r>
            <a:endParaRPr lang="en-US" sz="1200" dirty="0"/>
          </a:p>
        </p:txBody>
      </p:sp>
      <p:sp>
        <p:nvSpPr>
          <p:cNvPr id="17" name="Shape 15"/>
          <p:cNvSpPr/>
          <p:nvPr/>
        </p:nvSpPr>
        <p:spPr>
          <a:xfrm>
            <a:off x="804672" y="4754880"/>
            <a:ext cx="82296" cy="82296"/>
          </a:xfrm>
          <a:prstGeom prst="ellipse">
            <a:avLst/>
          </a:prstGeom>
          <a:solidFill>
            <a:srgbClr val="1E2761"/>
          </a:solidFill>
          <a:ln/>
        </p:spPr>
      </p:sp>
      <p:sp>
        <p:nvSpPr>
          <p:cNvPr id="18" name="Text 16"/>
          <p:cNvSpPr txBox="1"/>
          <p:nvPr/>
        </p:nvSpPr>
        <p:spPr>
          <a:xfrm>
            <a:off x="1005840" y="4672584"/>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Org-wide time utilization</a:t>
            </a:r>
            <a:endParaRPr lang="en-US" sz="1200" dirty="0"/>
          </a:p>
        </p:txBody>
      </p:sp>
      <p:sp>
        <p:nvSpPr>
          <p:cNvPr id="19" name="Shape 17"/>
          <p:cNvSpPr/>
          <p:nvPr/>
        </p:nvSpPr>
        <p:spPr>
          <a:xfrm>
            <a:off x="804672" y="5413248"/>
            <a:ext cx="82296" cy="82296"/>
          </a:xfrm>
          <a:prstGeom prst="ellipse">
            <a:avLst/>
          </a:prstGeom>
          <a:solidFill>
            <a:srgbClr val="1E2761"/>
          </a:solidFill>
          <a:ln/>
        </p:spPr>
      </p:sp>
      <p:sp>
        <p:nvSpPr>
          <p:cNvPr id="20" name="Text 18"/>
          <p:cNvSpPr txBox="1"/>
          <p:nvPr/>
        </p:nvSpPr>
        <p:spPr>
          <a:xfrm>
            <a:off x="1005840" y="5330952"/>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Generate reports at any level</a:t>
            </a:r>
            <a:endParaRPr lang="en-US" sz="1200" dirty="0"/>
          </a:p>
        </p:txBody>
      </p:sp>
      <p:sp>
        <p:nvSpPr>
          <p:cNvPr id="21" name="Shape 19"/>
          <p:cNvSpPr/>
          <p:nvPr/>
        </p:nvSpPr>
        <p:spPr>
          <a:xfrm>
            <a:off x="4343400" y="1508760"/>
            <a:ext cx="3520440" cy="4617720"/>
          </a:xfrm>
          <a:prstGeom prst="roundRect">
            <a:avLst>
              <a:gd name="adj" fmla="val 2597"/>
            </a:avLst>
          </a:prstGeom>
          <a:solidFill>
            <a:srgbClr val="FFFFFF"/>
          </a:solidFill>
          <a:ln/>
          <a:effectLst>
            <a:outerShdw sx="100000" sy="100000" kx="0" ky="0" algn="bl" rotWithShape="0" blurRad="101600" dist="38100" dir="5400000">
              <a:srgbClr val="999999">
                <a:alpha val="25000"/>
              </a:srgbClr>
            </a:outerShdw>
          </a:effectLst>
        </p:spPr>
      </p:sp>
      <p:sp>
        <p:nvSpPr>
          <p:cNvPr id="22" name="Shape 20"/>
          <p:cNvSpPr/>
          <p:nvPr/>
        </p:nvSpPr>
        <p:spPr>
          <a:xfrm>
            <a:off x="4343400" y="1508760"/>
            <a:ext cx="3520440" cy="960120"/>
          </a:xfrm>
          <a:prstGeom prst="roundRect">
            <a:avLst>
              <a:gd name="adj" fmla="val 9524"/>
            </a:avLst>
          </a:prstGeom>
          <a:solidFill>
            <a:srgbClr val="4A5FD9"/>
          </a:solidFill>
          <a:ln/>
        </p:spPr>
      </p:sp>
      <p:sp>
        <p:nvSpPr>
          <p:cNvPr id="23" name="Shape 21"/>
          <p:cNvSpPr/>
          <p:nvPr/>
        </p:nvSpPr>
        <p:spPr>
          <a:xfrm>
            <a:off x="4343400" y="2011680"/>
            <a:ext cx="3520440" cy="457200"/>
          </a:xfrm>
          <a:prstGeom prst="rect">
            <a:avLst/>
          </a:prstGeom>
          <a:solidFill>
            <a:srgbClr val="4A5FD9"/>
          </a:solidFill>
          <a:ln/>
        </p:spPr>
      </p:sp>
      <p:sp>
        <p:nvSpPr>
          <p:cNvPr id="24" name="Shape 22"/>
          <p:cNvSpPr/>
          <p:nvPr/>
        </p:nvSpPr>
        <p:spPr>
          <a:xfrm>
            <a:off x="4572000" y="1737360"/>
            <a:ext cx="502920" cy="502920"/>
          </a:xfrm>
          <a:prstGeom prst="ellipse">
            <a:avLst/>
          </a:prstGeom>
          <a:solidFill>
            <a:srgbClr val="FFFFFF"/>
          </a:solidFill>
          <a:ln/>
        </p:spPr>
      </p:sp>
      <p:sp>
        <p:nvSpPr>
          <p:cNvPr id="25" name="Text 23"/>
          <p:cNvSpPr txBox="1"/>
          <p:nvPr/>
        </p:nvSpPr>
        <p:spPr>
          <a:xfrm>
            <a:off x="4572000" y="1737360"/>
            <a:ext cx="502920" cy="502920"/>
          </a:xfrm>
          <a:prstGeom prst="rect">
            <a:avLst/>
          </a:prstGeom>
          <a:noFill/>
          <a:ln/>
        </p:spPr>
        <p:txBody>
          <a:bodyPr wrap="square" lIns="0" tIns="0" rIns="0" bIns="0" rtlCol="0" anchor="ctr"/>
          <a:lstStyle/>
          <a:p>
            <a:pPr algn="ctr" indent="0" marL="0">
              <a:buNone/>
            </a:pPr>
            <a:r>
              <a:rPr lang="en-US" sz="1800" b="1" dirty="0">
                <a:solidFill>
                  <a:srgbClr val="4A5FD9"/>
                </a:solidFill>
                <a:latin typeface="Calibri" pitchFamily="34" charset="0"/>
                <a:ea typeface="Calibri" pitchFamily="34" charset="-122"/>
                <a:cs typeface="Calibri" pitchFamily="34" charset="-120"/>
              </a:rPr>
              <a:t>2</a:t>
            </a:r>
            <a:endParaRPr lang="en-US" sz="1800" dirty="0"/>
          </a:p>
        </p:txBody>
      </p:sp>
      <p:sp>
        <p:nvSpPr>
          <p:cNvPr id="26" name="Text 24"/>
          <p:cNvSpPr txBox="1"/>
          <p:nvPr/>
        </p:nvSpPr>
        <p:spPr>
          <a:xfrm>
            <a:off x="5212080" y="1673352"/>
            <a:ext cx="25146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Team Lead</a:t>
            </a:r>
            <a:endParaRPr lang="en-US" sz="1600" dirty="0"/>
          </a:p>
        </p:txBody>
      </p:sp>
      <p:sp>
        <p:nvSpPr>
          <p:cNvPr id="27" name="Text 25"/>
          <p:cNvSpPr txBox="1"/>
          <p:nvPr/>
        </p:nvSpPr>
        <p:spPr>
          <a:xfrm>
            <a:off x="5212080" y="2020824"/>
            <a:ext cx="2514600" cy="27432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Team + project scope</a:t>
            </a:r>
            <a:endParaRPr lang="en-US" sz="1050" dirty="0"/>
          </a:p>
        </p:txBody>
      </p:sp>
      <p:sp>
        <p:nvSpPr>
          <p:cNvPr id="28" name="Shape 26"/>
          <p:cNvSpPr/>
          <p:nvPr/>
        </p:nvSpPr>
        <p:spPr>
          <a:xfrm>
            <a:off x="4599432" y="2779776"/>
            <a:ext cx="82296" cy="82296"/>
          </a:xfrm>
          <a:prstGeom prst="ellipse">
            <a:avLst/>
          </a:prstGeom>
          <a:solidFill>
            <a:srgbClr val="4A5FD9"/>
          </a:solidFill>
          <a:ln/>
        </p:spPr>
      </p:sp>
      <p:sp>
        <p:nvSpPr>
          <p:cNvPr id="29" name="Text 27"/>
          <p:cNvSpPr txBox="1"/>
          <p:nvPr/>
        </p:nvSpPr>
        <p:spPr>
          <a:xfrm>
            <a:off x="4800600" y="2697480"/>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View assigned project &amp; roster</a:t>
            </a:r>
            <a:endParaRPr lang="en-US" sz="1200" dirty="0"/>
          </a:p>
        </p:txBody>
      </p:sp>
      <p:sp>
        <p:nvSpPr>
          <p:cNvPr id="30" name="Shape 28"/>
          <p:cNvSpPr/>
          <p:nvPr/>
        </p:nvSpPr>
        <p:spPr>
          <a:xfrm>
            <a:off x="4599432" y="3438144"/>
            <a:ext cx="82296" cy="82296"/>
          </a:xfrm>
          <a:prstGeom prst="ellipse">
            <a:avLst/>
          </a:prstGeom>
          <a:solidFill>
            <a:srgbClr val="4A5FD9"/>
          </a:solidFill>
          <a:ln/>
        </p:spPr>
      </p:sp>
      <p:sp>
        <p:nvSpPr>
          <p:cNvPr id="31" name="Text 29"/>
          <p:cNvSpPr txBox="1"/>
          <p:nvPr/>
        </p:nvSpPr>
        <p:spPr>
          <a:xfrm>
            <a:off x="4800600" y="3355848"/>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Divide project into modules</a:t>
            </a:r>
            <a:endParaRPr lang="en-US" sz="1200" dirty="0"/>
          </a:p>
        </p:txBody>
      </p:sp>
      <p:sp>
        <p:nvSpPr>
          <p:cNvPr id="32" name="Shape 30"/>
          <p:cNvSpPr/>
          <p:nvPr/>
        </p:nvSpPr>
        <p:spPr>
          <a:xfrm>
            <a:off x="4599432" y="4096512"/>
            <a:ext cx="82296" cy="82296"/>
          </a:xfrm>
          <a:prstGeom prst="ellipse">
            <a:avLst/>
          </a:prstGeom>
          <a:solidFill>
            <a:srgbClr val="4A5FD9"/>
          </a:solidFill>
          <a:ln/>
        </p:spPr>
      </p:sp>
      <p:sp>
        <p:nvSpPr>
          <p:cNvPr id="33" name="Text 31"/>
          <p:cNvSpPr txBox="1"/>
          <p:nvPr/>
        </p:nvSpPr>
        <p:spPr>
          <a:xfrm>
            <a:off x="4800600" y="4014216"/>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Create &amp; assign tasks</a:t>
            </a:r>
            <a:endParaRPr lang="en-US" sz="1200" dirty="0"/>
          </a:p>
        </p:txBody>
      </p:sp>
      <p:sp>
        <p:nvSpPr>
          <p:cNvPr id="34" name="Shape 32"/>
          <p:cNvSpPr/>
          <p:nvPr/>
        </p:nvSpPr>
        <p:spPr>
          <a:xfrm>
            <a:off x="4599432" y="4754880"/>
            <a:ext cx="82296" cy="82296"/>
          </a:xfrm>
          <a:prstGeom prst="ellipse">
            <a:avLst/>
          </a:prstGeom>
          <a:solidFill>
            <a:srgbClr val="4A5FD9"/>
          </a:solidFill>
          <a:ln/>
        </p:spPr>
      </p:sp>
      <p:sp>
        <p:nvSpPr>
          <p:cNvPr id="35" name="Text 33"/>
          <p:cNvSpPr txBox="1"/>
          <p:nvPr/>
        </p:nvSpPr>
        <p:spPr>
          <a:xfrm>
            <a:off x="4800600" y="4672584"/>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Approve / reject completed work</a:t>
            </a:r>
            <a:endParaRPr lang="en-US" sz="1200" dirty="0"/>
          </a:p>
        </p:txBody>
      </p:sp>
      <p:sp>
        <p:nvSpPr>
          <p:cNvPr id="36" name="Shape 34"/>
          <p:cNvSpPr/>
          <p:nvPr/>
        </p:nvSpPr>
        <p:spPr>
          <a:xfrm>
            <a:off x="4599432" y="5413248"/>
            <a:ext cx="82296" cy="82296"/>
          </a:xfrm>
          <a:prstGeom prst="ellipse">
            <a:avLst/>
          </a:prstGeom>
          <a:solidFill>
            <a:srgbClr val="4A5FD9"/>
          </a:solidFill>
          <a:ln/>
        </p:spPr>
      </p:sp>
      <p:sp>
        <p:nvSpPr>
          <p:cNvPr id="37" name="Text 35"/>
          <p:cNvSpPr txBox="1"/>
          <p:nvPr/>
        </p:nvSpPr>
        <p:spPr>
          <a:xfrm>
            <a:off x="4800600" y="5330952"/>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Team performance dashboard</a:t>
            </a:r>
            <a:endParaRPr lang="en-US" sz="1200" dirty="0"/>
          </a:p>
        </p:txBody>
      </p:sp>
      <p:sp>
        <p:nvSpPr>
          <p:cNvPr id="38" name="Shape 36"/>
          <p:cNvSpPr/>
          <p:nvPr/>
        </p:nvSpPr>
        <p:spPr>
          <a:xfrm>
            <a:off x="8138160" y="1508760"/>
            <a:ext cx="3520440" cy="4617720"/>
          </a:xfrm>
          <a:prstGeom prst="roundRect">
            <a:avLst>
              <a:gd name="adj" fmla="val 2597"/>
            </a:avLst>
          </a:prstGeom>
          <a:solidFill>
            <a:srgbClr val="FFFFFF"/>
          </a:solidFill>
          <a:ln/>
          <a:effectLst>
            <a:outerShdw sx="100000" sy="100000" kx="0" ky="0" algn="bl" rotWithShape="0" blurRad="101600" dist="38100" dir="5400000">
              <a:srgbClr val="999999">
                <a:alpha val="25000"/>
              </a:srgbClr>
            </a:outerShdw>
          </a:effectLst>
        </p:spPr>
      </p:sp>
      <p:sp>
        <p:nvSpPr>
          <p:cNvPr id="39" name="Shape 37"/>
          <p:cNvSpPr/>
          <p:nvPr/>
        </p:nvSpPr>
        <p:spPr>
          <a:xfrm>
            <a:off x="8138160" y="1508760"/>
            <a:ext cx="3520440" cy="960120"/>
          </a:xfrm>
          <a:prstGeom prst="roundRect">
            <a:avLst>
              <a:gd name="adj" fmla="val 9524"/>
            </a:avLst>
          </a:prstGeom>
          <a:solidFill>
            <a:srgbClr val="5B6EE8"/>
          </a:solidFill>
          <a:ln/>
        </p:spPr>
      </p:sp>
      <p:sp>
        <p:nvSpPr>
          <p:cNvPr id="40" name="Shape 38"/>
          <p:cNvSpPr/>
          <p:nvPr/>
        </p:nvSpPr>
        <p:spPr>
          <a:xfrm>
            <a:off x="8138160" y="2011680"/>
            <a:ext cx="3520440" cy="457200"/>
          </a:xfrm>
          <a:prstGeom prst="rect">
            <a:avLst/>
          </a:prstGeom>
          <a:solidFill>
            <a:srgbClr val="5B6EE8"/>
          </a:solidFill>
          <a:ln/>
        </p:spPr>
      </p:sp>
      <p:sp>
        <p:nvSpPr>
          <p:cNvPr id="41" name="Shape 39"/>
          <p:cNvSpPr/>
          <p:nvPr/>
        </p:nvSpPr>
        <p:spPr>
          <a:xfrm>
            <a:off x="8366760" y="1737360"/>
            <a:ext cx="502920" cy="502920"/>
          </a:xfrm>
          <a:prstGeom prst="ellipse">
            <a:avLst/>
          </a:prstGeom>
          <a:solidFill>
            <a:srgbClr val="FFFFFF"/>
          </a:solidFill>
          <a:ln/>
        </p:spPr>
      </p:sp>
      <p:sp>
        <p:nvSpPr>
          <p:cNvPr id="42" name="Text 40"/>
          <p:cNvSpPr txBox="1"/>
          <p:nvPr/>
        </p:nvSpPr>
        <p:spPr>
          <a:xfrm>
            <a:off x="8366760" y="1737360"/>
            <a:ext cx="502920" cy="502920"/>
          </a:xfrm>
          <a:prstGeom prst="rect">
            <a:avLst/>
          </a:prstGeom>
          <a:noFill/>
          <a:ln/>
        </p:spPr>
        <p:txBody>
          <a:bodyPr wrap="square" lIns="0" tIns="0" rIns="0" bIns="0" rtlCol="0" anchor="ctr"/>
          <a:lstStyle/>
          <a:p>
            <a:pPr algn="ctr" indent="0" marL="0">
              <a:buNone/>
            </a:pPr>
            <a:r>
              <a:rPr lang="en-US" sz="1800" b="1" dirty="0">
                <a:solidFill>
                  <a:srgbClr val="5B6EE8"/>
                </a:solidFill>
                <a:latin typeface="Calibri" pitchFamily="34" charset="0"/>
                <a:ea typeface="Calibri" pitchFamily="34" charset="-122"/>
                <a:cs typeface="Calibri" pitchFamily="34" charset="-120"/>
              </a:rPr>
              <a:t>3</a:t>
            </a:r>
            <a:endParaRPr lang="en-US" sz="1800" dirty="0"/>
          </a:p>
        </p:txBody>
      </p:sp>
      <p:sp>
        <p:nvSpPr>
          <p:cNvPr id="43" name="Text 41"/>
          <p:cNvSpPr txBox="1"/>
          <p:nvPr/>
        </p:nvSpPr>
        <p:spPr>
          <a:xfrm>
            <a:off x="9006840" y="1673352"/>
            <a:ext cx="25146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Team Member</a:t>
            </a:r>
            <a:endParaRPr lang="en-US" sz="1600" dirty="0"/>
          </a:p>
        </p:txBody>
      </p:sp>
      <p:sp>
        <p:nvSpPr>
          <p:cNvPr id="44" name="Text 42"/>
          <p:cNvSpPr txBox="1"/>
          <p:nvPr/>
        </p:nvSpPr>
        <p:spPr>
          <a:xfrm>
            <a:off x="9006840" y="2020824"/>
            <a:ext cx="2514600" cy="274320"/>
          </a:xfrm>
          <a:prstGeom prst="rect">
            <a:avLst/>
          </a:prstGeom>
          <a:noFill/>
          <a:ln/>
        </p:spPr>
        <p:txBody>
          <a:bodyPr wrap="square" lIns="0" tIns="0" rIns="0" bIns="0" rtlCol="0" anchor="ctr"/>
          <a:lstStyle/>
          <a:p>
            <a:pPr indent="0" marL="0">
              <a:buNone/>
            </a:pPr>
            <a:r>
              <a:rPr lang="en-US" sz="1050" i="1" dirty="0">
                <a:solidFill>
                  <a:srgbClr val="CADCFC"/>
                </a:solidFill>
                <a:latin typeface="Calibri" pitchFamily="34" charset="0"/>
                <a:ea typeface="Calibri" pitchFamily="34" charset="-122"/>
                <a:cs typeface="Calibri" pitchFamily="34" charset="-120"/>
              </a:rPr>
              <a:t>Own tasks only</a:t>
            </a:r>
            <a:endParaRPr lang="en-US" sz="1050" dirty="0"/>
          </a:p>
        </p:txBody>
      </p:sp>
      <p:sp>
        <p:nvSpPr>
          <p:cNvPr id="45" name="Shape 43"/>
          <p:cNvSpPr/>
          <p:nvPr/>
        </p:nvSpPr>
        <p:spPr>
          <a:xfrm>
            <a:off x="8394192" y="2779776"/>
            <a:ext cx="82296" cy="82296"/>
          </a:xfrm>
          <a:prstGeom prst="ellipse">
            <a:avLst/>
          </a:prstGeom>
          <a:solidFill>
            <a:srgbClr val="5B6EE8"/>
          </a:solidFill>
          <a:ln/>
        </p:spPr>
      </p:sp>
      <p:sp>
        <p:nvSpPr>
          <p:cNvPr id="46" name="Text 44"/>
          <p:cNvSpPr txBox="1"/>
          <p:nvPr/>
        </p:nvSpPr>
        <p:spPr>
          <a:xfrm>
            <a:off x="8595360" y="2697480"/>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View &amp; start assigned tasks</a:t>
            </a:r>
            <a:endParaRPr lang="en-US" sz="1200" dirty="0"/>
          </a:p>
        </p:txBody>
      </p:sp>
      <p:sp>
        <p:nvSpPr>
          <p:cNvPr id="47" name="Shape 45"/>
          <p:cNvSpPr/>
          <p:nvPr/>
        </p:nvSpPr>
        <p:spPr>
          <a:xfrm>
            <a:off x="8394192" y="3438144"/>
            <a:ext cx="82296" cy="82296"/>
          </a:xfrm>
          <a:prstGeom prst="ellipse">
            <a:avLst/>
          </a:prstGeom>
          <a:solidFill>
            <a:srgbClr val="5B6EE8"/>
          </a:solidFill>
          <a:ln/>
        </p:spPr>
      </p:sp>
      <p:sp>
        <p:nvSpPr>
          <p:cNvPr id="48" name="Text 46"/>
          <p:cNvSpPr txBox="1"/>
          <p:nvPr/>
        </p:nvSpPr>
        <p:spPr>
          <a:xfrm>
            <a:off x="8595360" y="3355848"/>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Pause / resume time tracking</a:t>
            </a:r>
            <a:endParaRPr lang="en-US" sz="1200" dirty="0"/>
          </a:p>
        </p:txBody>
      </p:sp>
      <p:sp>
        <p:nvSpPr>
          <p:cNvPr id="49" name="Shape 47"/>
          <p:cNvSpPr/>
          <p:nvPr/>
        </p:nvSpPr>
        <p:spPr>
          <a:xfrm>
            <a:off x="8394192" y="4096512"/>
            <a:ext cx="82296" cy="82296"/>
          </a:xfrm>
          <a:prstGeom prst="ellipse">
            <a:avLst/>
          </a:prstGeom>
          <a:solidFill>
            <a:srgbClr val="5B6EE8"/>
          </a:solidFill>
          <a:ln/>
        </p:spPr>
      </p:sp>
      <p:sp>
        <p:nvSpPr>
          <p:cNvPr id="50" name="Text 48"/>
          <p:cNvSpPr txBox="1"/>
          <p:nvPr/>
        </p:nvSpPr>
        <p:spPr>
          <a:xfrm>
            <a:off x="8595360" y="4014216"/>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Complete tasks, add remarks</a:t>
            </a:r>
            <a:endParaRPr lang="en-US" sz="1200" dirty="0"/>
          </a:p>
        </p:txBody>
      </p:sp>
      <p:sp>
        <p:nvSpPr>
          <p:cNvPr id="51" name="Shape 49"/>
          <p:cNvSpPr/>
          <p:nvPr/>
        </p:nvSpPr>
        <p:spPr>
          <a:xfrm>
            <a:off x="8394192" y="4754880"/>
            <a:ext cx="82296" cy="82296"/>
          </a:xfrm>
          <a:prstGeom prst="ellipse">
            <a:avLst/>
          </a:prstGeom>
          <a:solidFill>
            <a:srgbClr val="5B6EE8"/>
          </a:solidFill>
          <a:ln/>
        </p:spPr>
      </p:sp>
      <p:sp>
        <p:nvSpPr>
          <p:cNvPr id="52" name="Text 50"/>
          <p:cNvSpPr txBox="1"/>
          <p:nvPr/>
        </p:nvSpPr>
        <p:spPr>
          <a:xfrm>
            <a:off x="8595360" y="4672584"/>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Upload work as evidence</a:t>
            </a:r>
            <a:endParaRPr lang="en-US" sz="1200" dirty="0"/>
          </a:p>
        </p:txBody>
      </p:sp>
      <p:sp>
        <p:nvSpPr>
          <p:cNvPr id="53" name="Shape 51"/>
          <p:cNvSpPr/>
          <p:nvPr/>
        </p:nvSpPr>
        <p:spPr>
          <a:xfrm>
            <a:off x="8394192" y="5413248"/>
            <a:ext cx="82296" cy="82296"/>
          </a:xfrm>
          <a:prstGeom prst="ellipse">
            <a:avLst/>
          </a:prstGeom>
          <a:solidFill>
            <a:srgbClr val="5B6EE8"/>
          </a:solidFill>
          <a:ln/>
        </p:spPr>
      </p:sp>
      <p:sp>
        <p:nvSpPr>
          <p:cNvPr id="54" name="Text 52"/>
          <p:cNvSpPr txBox="1"/>
          <p:nvPr/>
        </p:nvSpPr>
        <p:spPr>
          <a:xfrm>
            <a:off x="8595360" y="5330952"/>
            <a:ext cx="2834640" cy="502920"/>
          </a:xfrm>
          <a:prstGeom prst="rect">
            <a:avLst/>
          </a:prstGeom>
          <a:noFill/>
          <a:ln/>
        </p:spPr>
        <p:txBody>
          <a:bodyPr wrap="square" lIns="0" tIns="0" rIns="0" bIns="0" rtlCol="0" anchor="t"/>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View personal performance</a:t>
            </a:r>
            <a:endParaRPr lang="en-US" sz="1200" dirty="0"/>
          </a:p>
        </p:txBody>
      </p:sp>
      <p:sp>
        <p:nvSpPr>
          <p:cNvPr id="55" name="Text 5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Employee Project, Task &amp; Performance Management System</a:t>
            </a:r>
            <a:endParaRPr lang="en-US" sz="1000" dirty="0"/>
          </a:p>
        </p:txBody>
      </p:sp>
      <p:sp>
        <p:nvSpPr>
          <p:cNvPr id="56" name="Text 5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54864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Role Hierarchy &amp; Access Model</a:t>
            </a:r>
            <a:endParaRPr lang="en-US" sz="3000" dirty="0"/>
          </a:p>
        </p:txBody>
      </p:sp>
      <p:sp>
        <p:nvSpPr>
          <p:cNvPr id="3" name="Text 1"/>
          <p:cNvSpPr txBox="1"/>
          <p:nvPr/>
        </p:nvSpPr>
        <p:spPr>
          <a:xfrm>
            <a:off x="548640" y="932688"/>
            <a:ext cx="960120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Access is strictly role-based (RBAC) — each role sees only its own scope</a:t>
            </a:r>
            <a:endParaRPr lang="en-US" sz="1400" dirty="0"/>
          </a:p>
        </p:txBody>
      </p:sp>
      <p:sp>
        <p:nvSpPr>
          <p:cNvPr id="4" name="Shape 2"/>
          <p:cNvSpPr/>
          <p:nvPr/>
        </p:nvSpPr>
        <p:spPr>
          <a:xfrm>
            <a:off x="3352648" y="1554480"/>
            <a:ext cx="5486400" cy="713232"/>
          </a:xfrm>
          <a:prstGeom prst="roundRect">
            <a:avLst>
              <a:gd name="adj" fmla="val 12821"/>
            </a:avLst>
          </a:prstGeom>
          <a:solidFill>
            <a:srgbClr val="1E2761"/>
          </a:solidFill>
          <a:ln/>
          <a:effectLst>
            <a:outerShdw sx="100000" sy="100000" kx="0" ky="0" algn="bl" rotWithShape="0" blurRad="76200" dist="25400" dir="5400000">
              <a:srgbClr val="999999">
                <a:alpha val="25000"/>
              </a:srgbClr>
            </a:outerShdw>
          </a:effectLst>
        </p:spPr>
      </p:sp>
      <p:sp>
        <p:nvSpPr>
          <p:cNvPr id="5" name="Text 3"/>
          <p:cNvSpPr txBox="1"/>
          <p:nvPr/>
        </p:nvSpPr>
        <p:spPr>
          <a:xfrm>
            <a:off x="3352648" y="1627632"/>
            <a:ext cx="548640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Superior / Manager</a:t>
            </a:r>
            <a:endParaRPr lang="en-US" sz="1500" dirty="0"/>
          </a:p>
        </p:txBody>
      </p:sp>
      <p:sp>
        <p:nvSpPr>
          <p:cNvPr id="6" name="Text 4"/>
          <p:cNvSpPr txBox="1"/>
          <p:nvPr/>
        </p:nvSpPr>
        <p:spPr>
          <a:xfrm>
            <a:off x="3352648" y="1938528"/>
            <a:ext cx="5486400" cy="292608"/>
          </a:xfrm>
          <a:prstGeom prst="rect">
            <a:avLst/>
          </a:prstGeom>
          <a:noFill/>
          <a:ln/>
        </p:spPr>
        <p:txBody>
          <a:bodyPr wrap="square" lIns="0" tIns="0" rIns="0" bIns="0" rtlCol="0" anchor="ctr"/>
          <a:lstStyle/>
          <a:p>
            <a:pPr algn="ctr" indent="0" marL="0">
              <a:buNone/>
            </a:pPr>
            <a:r>
              <a:rPr lang="en-US" sz="1050" i="1" dirty="0">
                <a:solidFill>
                  <a:srgbClr val="CADCFC"/>
                </a:solidFill>
                <a:latin typeface="Calibri" pitchFamily="34" charset="0"/>
                <a:ea typeface="Calibri" pitchFamily="34" charset="-122"/>
                <a:cs typeface="Calibri" pitchFamily="34" charset="-120"/>
              </a:rPr>
              <a:t>Full org visibility</a:t>
            </a:r>
            <a:endParaRPr lang="en-US" sz="1050" dirty="0"/>
          </a:p>
        </p:txBody>
      </p:sp>
      <p:sp>
        <p:nvSpPr>
          <p:cNvPr id="7" name="Shape 5"/>
          <p:cNvSpPr/>
          <p:nvPr/>
        </p:nvSpPr>
        <p:spPr>
          <a:xfrm>
            <a:off x="6095848" y="2267712"/>
            <a:ext cx="0" cy="384048"/>
          </a:xfrm>
          <a:prstGeom prst="line">
            <a:avLst/>
          </a:prstGeom>
          <a:noFill/>
          <a:ln w="25400">
            <a:solidFill>
              <a:srgbClr val="6B7280"/>
            </a:solidFill>
            <a:prstDash val="solid"/>
            <a:tailEnd type="triangle"/>
          </a:ln>
        </p:spPr>
      </p:sp>
      <p:sp>
        <p:nvSpPr>
          <p:cNvPr id="8" name="Text 6"/>
          <p:cNvSpPr txBox="1"/>
          <p:nvPr/>
        </p:nvSpPr>
        <p:spPr>
          <a:xfrm>
            <a:off x="6233008" y="2286000"/>
            <a:ext cx="3200400" cy="29260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assigns project + team</a:t>
            </a:r>
            <a:endParaRPr lang="en-US" sz="1050" dirty="0"/>
          </a:p>
        </p:txBody>
      </p:sp>
      <p:sp>
        <p:nvSpPr>
          <p:cNvPr id="9" name="Shape 7"/>
          <p:cNvSpPr/>
          <p:nvPr/>
        </p:nvSpPr>
        <p:spPr>
          <a:xfrm>
            <a:off x="3992728" y="2724912"/>
            <a:ext cx="4206240" cy="713232"/>
          </a:xfrm>
          <a:prstGeom prst="roundRect">
            <a:avLst>
              <a:gd name="adj" fmla="val 12821"/>
            </a:avLst>
          </a:prstGeom>
          <a:solidFill>
            <a:srgbClr val="4A5FD9"/>
          </a:solidFill>
          <a:ln/>
          <a:effectLst>
            <a:outerShdw sx="100000" sy="100000" kx="0" ky="0" algn="bl" rotWithShape="0" blurRad="76200" dist="25400" dir="5400000">
              <a:srgbClr val="999999">
                <a:alpha val="25000"/>
              </a:srgbClr>
            </a:outerShdw>
          </a:effectLst>
        </p:spPr>
      </p:sp>
      <p:sp>
        <p:nvSpPr>
          <p:cNvPr id="10" name="Text 8"/>
          <p:cNvSpPr txBox="1"/>
          <p:nvPr/>
        </p:nvSpPr>
        <p:spPr>
          <a:xfrm>
            <a:off x="3992728" y="2798064"/>
            <a:ext cx="420624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Team Lead</a:t>
            </a:r>
            <a:endParaRPr lang="en-US" sz="1500" dirty="0"/>
          </a:p>
        </p:txBody>
      </p:sp>
      <p:sp>
        <p:nvSpPr>
          <p:cNvPr id="11" name="Text 9"/>
          <p:cNvSpPr txBox="1"/>
          <p:nvPr/>
        </p:nvSpPr>
        <p:spPr>
          <a:xfrm>
            <a:off x="3992728" y="3108960"/>
            <a:ext cx="4206240" cy="292608"/>
          </a:xfrm>
          <a:prstGeom prst="rect">
            <a:avLst/>
          </a:prstGeom>
          <a:noFill/>
          <a:ln/>
        </p:spPr>
        <p:txBody>
          <a:bodyPr wrap="square" lIns="0" tIns="0" rIns="0" bIns="0" rtlCol="0" anchor="ctr"/>
          <a:lstStyle/>
          <a:p>
            <a:pPr algn="ctr" indent="0" marL="0">
              <a:buNone/>
            </a:pPr>
            <a:r>
              <a:rPr lang="en-US" sz="1050" i="1" dirty="0">
                <a:solidFill>
                  <a:srgbClr val="CADCFC"/>
                </a:solidFill>
                <a:latin typeface="Calibri" pitchFamily="34" charset="0"/>
                <a:ea typeface="Calibri" pitchFamily="34" charset="-122"/>
                <a:cs typeface="Calibri" pitchFamily="34" charset="-120"/>
              </a:rPr>
              <a:t>Team + project scope</a:t>
            </a:r>
            <a:endParaRPr lang="en-US" sz="1050" dirty="0"/>
          </a:p>
        </p:txBody>
      </p:sp>
      <p:sp>
        <p:nvSpPr>
          <p:cNvPr id="12" name="Shape 10"/>
          <p:cNvSpPr/>
          <p:nvPr/>
        </p:nvSpPr>
        <p:spPr>
          <a:xfrm>
            <a:off x="6095848" y="3438144"/>
            <a:ext cx="0" cy="384048"/>
          </a:xfrm>
          <a:prstGeom prst="line">
            <a:avLst/>
          </a:prstGeom>
          <a:noFill/>
          <a:ln w="25400">
            <a:solidFill>
              <a:srgbClr val="6B7280"/>
            </a:solidFill>
            <a:prstDash val="solid"/>
            <a:tailEnd type="triangle"/>
          </a:ln>
        </p:spPr>
      </p:sp>
      <p:sp>
        <p:nvSpPr>
          <p:cNvPr id="13" name="Text 11"/>
          <p:cNvSpPr txBox="1"/>
          <p:nvPr/>
        </p:nvSpPr>
        <p:spPr>
          <a:xfrm>
            <a:off x="6233008" y="3456432"/>
            <a:ext cx="3200400" cy="29260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assigns tasks</a:t>
            </a:r>
            <a:endParaRPr lang="en-US" sz="1050" dirty="0"/>
          </a:p>
        </p:txBody>
      </p:sp>
      <p:sp>
        <p:nvSpPr>
          <p:cNvPr id="14" name="Shape 12"/>
          <p:cNvSpPr/>
          <p:nvPr/>
        </p:nvSpPr>
        <p:spPr>
          <a:xfrm>
            <a:off x="4632808" y="3895344"/>
            <a:ext cx="2926080" cy="713232"/>
          </a:xfrm>
          <a:prstGeom prst="roundRect">
            <a:avLst>
              <a:gd name="adj" fmla="val 12821"/>
            </a:avLst>
          </a:prstGeom>
          <a:solidFill>
            <a:srgbClr val="5B6EE8"/>
          </a:solidFill>
          <a:ln/>
          <a:effectLst>
            <a:outerShdw sx="100000" sy="100000" kx="0" ky="0" algn="bl" rotWithShape="0" blurRad="76200" dist="25400" dir="5400000">
              <a:srgbClr val="999999">
                <a:alpha val="25000"/>
              </a:srgbClr>
            </a:outerShdw>
          </a:effectLst>
        </p:spPr>
      </p:sp>
      <p:sp>
        <p:nvSpPr>
          <p:cNvPr id="15" name="Text 13"/>
          <p:cNvSpPr txBox="1"/>
          <p:nvPr/>
        </p:nvSpPr>
        <p:spPr>
          <a:xfrm>
            <a:off x="4632808" y="3968496"/>
            <a:ext cx="2926080"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Team Member(s)</a:t>
            </a:r>
            <a:endParaRPr lang="en-US" sz="1500" dirty="0"/>
          </a:p>
        </p:txBody>
      </p:sp>
      <p:sp>
        <p:nvSpPr>
          <p:cNvPr id="16" name="Text 14"/>
          <p:cNvSpPr txBox="1"/>
          <p:nvPr/>
        </p:nvSpPr>
        <p:spPr>
          <a:xfrm>
            <a:off x="4632808" y="4279392"/>
            <a:ext cx="2926080" cy="292608"/>
          </a:xfrm>
          <a:prstGeom prst="rect">
            <a:avLst/>
          </a:prstGeom>
          <a:noFill/>
          <a:ln/>
        </p:spPr>
        <p:txBody>
          <a:bodyPr wrap="square" lIns="0" tIns="0" rIns="0" bIns="0" rtlCol="0" anchor="ctr"/>
          <a:lstStyle/>
          <a:p>
            <a:pPr algn="ctr" indent="0" marL="0">
              <a:buNone/>
            </a:pPr>
            <a:r>
              <a:rPr lang="en-US" sz="1050" i="1" dirty="0">
                <a:solidFill>
                  <a:srgbClr val="CADCFC"/>
                </a:solidFill>
                <a:latin typeface="Calibri" pitchFamily="34" charset="0"/>
                <a:ea typeface="Calibri" pitchFamily="34" charset="-122"/>
                <a:cs typeface="Calibri" pitchFamily="34" charset="-120"/>
              </a:rPr>
              <a:t>Own tasks only</a:t>
            </a:r>
            <a:endParaRPr lang="en-US" sz="1050" dirty="0"/>
          </a:p>
        </p:txBody>
      </p:sp>
      <p:sp>
        <p:nvSpPr>
          <p:cNvPr id="17" name="Shape 15"/>
          <p:cNvSpPr/>
          <p:nvPr/>
        </p:nvSpPr>
        <p:spPr>
          <a:xfrm>
            <a:off x="548640" y="5074920"/>
            <a:ext cx="11064240" cy="1051560"/>
          </a:xfrm>
          <a:prstGeom prst="roundRect">
            <a:avLst>
              <a:gd name="adj" fmla="val 6957"/>
            </a:avLst>
          </a:prstGeom>
          <a:solidFill>
            <a:srgbClr val="F4F6FC"/>
          </a:solidFill>
          <a:ln/>
        </p:spPr>
      </p:sp>
      <p:sp>
        <p:nvSpPr>
          <p:cNvPr id="18" name="Text 16"/>
          <p:cNvSpPr txBox="1"/>
          <p:nvPr/>
        </p:nvSpPr>
        <p:spPr>
          <a:xfrm>
            <a:off x="868680" y="5230368"/>
            <a:ext cx="2743200" cy="320040"/>
          </a:xfrm>
          <a:prstGeom prst="rect">
            <a:avLst/>
          </a:prstGeom>
          <a:noFill/>
          <a:ln/>
        </p:spPr>
        <p:txBody>
          <a:bodyPr wrap="square" lIns="0" tIns="0" rIns="0" bIns="0" rtlCol="0" anchor="ctr"/>
          <a:lstStyle/>
          <a:p>
            <a:pPr indent="0" marL="0">
              <a:buNone/>
            </a:pPr>
            <a:r>
              <a:rPr lang="en-US" sz="1200" b="1" spc="100" kern="0" dirty="0">
                <a:solidFill>
                  <a:srgbClr val="4A5FD9"/>
                </a:solidFill>
                <a:latin typeface="Calibri" pitchFamily="34" charset="0"/>
                <a:ea typeface="Calibri" pitchFamily="34" charset="-122"/>
                <a:cs typeface="Calibri" pitchFamily="34" charset="-120"/>
              </a:rPr>
              <a:t>Access Rule</a:t>
            </a:r>
            <a:endParaRPr lang="en-US" sz="1200" dirty="0"/>
          </a:p>
        </p:txBody>
      </p:sp>
      <p:sp>
        <p:nvSpPr>
          <p:cNvPr id="19" name="Text 17"/>
          <p:cNvSpPr txBox="1"/>
          <p:nvPr/>
        </p:nvSpPr>
        <p:spPr>
          <a:xfrm>
            <a:off x="868680" y="5532120"/>
            <a:ext cx="10424160" cy="502920"/>
          </a:xfrm>
          <a:prstGeom prst="rect">
            <a:avLst/>
          </a:prstGeom>
          <a:noFill/>
          <a:ln/>
        </p:spPr>
        <p:txBody>
          <a:bodyPr wrap="square" lIns="0" tIns="0" rIns="0" bIns="0" rtlCol="0" anchor="ctr"/>
          <a:lstStyle/>
          <a:p>
            <a:pPr indent="0" marL="0">
              <a:lnSpc>
                <a:spcPct val="120000"/>
              </a:lnSpc>
              <a:buNone/>
            </a:pPr>
            <a:r>
              <a:rPr lang="en-US" sz="1300" dirty="0">
                <a:solidFill>
                  <a:srgbClr val="222633"/>
                </a:solidFill>
                <a:latin typeface="Calibri" pitchFamily="34" charset="0"/>
                <a:ea typeface="Calibri" pitchFamily="34" charset="-122"/>
                <a:cs typeface="Calibri" pitchFamily="34" charset="-120"/>
              </a:rPr>
              <a:t>A Team Lead can only see teams/projects they are assigned to. An Employee can only see and act on tasks assigned to them.</a:t>
            </a:r>
            <a:endParaRPr lang="en-US" sz="1300" dirty="0"/>
          </a:p>
        </p:txBody>
      </p:sp>
      <p:sp>
        <p:nvSpPr>
          <p:cNvPr id="20" name="Text 18"/>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Employee Project, Task &amp; Performance Management System</a:t>
            </a:r>
            <a:endParaRPr lang="en-US" sz="1000" dirty="0"/>
          </a:p>
        </p:txBody>
      </p:sp>
      <p:sp>
        <p:nvSpPr>
          <p:cNvPr id="21" name="Text 19"/>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C"/>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Major System Modules</a:t>
            </a:r>
            <a:endParaRPr lang="en-US" sz="2800" dirty="0"/>
          </a:p>
        </p:txBody>
      </p:sp>
      <p:sp>
        <p:nvSpPr>
          <p:cNvPr id="3" name="Text 1"/>
          <p:cNvSpPr txBox="1"/>
          <p:nvPr/>
        </p:nvSpPr>
        <p:spPr>
          <a:xfrm>
            <a:off x="548640" y="859536"/>
            <a:ext cx="91440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application is organized into 12 core modules</a:t>
            </a:r>
            <a:endParaRPr lang="en-US" sz="1300" dirty="0"/>
          </a:p>
        </p:txBody>
      </p:sp>
      <p:sp>
        <p:nvSpPr>
          <p:cNvPr id="4" name="Shape 2"/>
          <p:cNvSpPr/>
          <p:nvPr/>
        </p:nvSpPr>
        <p:spPr>
          <a:xfrm>
            <a:off x="548640" y="1325880"/>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5" name="Shape 3"/>
          <p:cNvSpPr/>
          <p:nvPr/>
        </p:nvSpPr>
        <p:spPr>
          <a:xfrm>
            <a:off x="713232" y="1563624"/>
            <a:ext cx="457200" cy="457200"/>
          </a:xfrm>
          <a:prstGeom prst="ellipse">
            <a:avLst/>
          </a:prstGeom>
          <a:solidFill>
            <a:srgbClr val="1E2761"/>
          </a:solidFill>
          <a:ln/>
        </p:spPr>
      </p:sp>
      <p:sp>
        <p:nvSpPr>
          <p:cNvPr id="6" name="Text 4"/>
          <p:cNvSpPr txBox="1"/>
          <p:nvPr/>
        </p:nvSpPr>
        <p:spPr>
          <a:xfrm>
            <a:off x="713232" y="1563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298448" y="1325880"/>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Authentication &amp; Authorization</a:t>
            </a:r>
            <a:endParaRPr lang="en-US" sz="1250" dirty="0"/>
          </a:p>
        </p:txBody>
      </p:sp>
      <p:sp>
        <p:nvSpPr>
          <p:cNvPr id="8" name="Shape 6"/>
          <p:cNvSpPr/>
          <p:nvPr/>
        </p:nvSpPr>
        <p:spPr>
          <a:xfrm>
            <a:off x="4325112" y="1325880"/>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9" name="Shape 7"/>
          <p:cNvSpPr/>
          <p:nvPr/>
        </p:nvSpPr>
        <p:spPr>
          <a:xfrm>
            <a:off x="4489704" y="1563624"/>
            <a:ext cx="457200" cy="457200"/>
          </a:xfrm>
          <a:prstGeom prst="ellipse">
            <a:avLst/>
          </a:prstGeom>
          <a:solidFill>
            <a:srgbClr val="4A5FD9"/>
          </a:solidFill>
          <a:ln/>
        </p:spPr>
      </p:sp>
      <p:sp>
        <p:nvSpPr>
          <p:cNvPr id="10" name="Text 8"/>
          <p:cNvSpPr txBox="1"/>
          <p:nvPr/>
        </p:nvSpPr>
        <p:spPr>
          <a:xfrm>
            <a:off x="4489704" y="1563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5074920" y="1325880"/>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Employee Management</a:t>
            </a:r>
            <a:endParaRPr lang="en-US" sz="1250" dirty="0"/>
          </a:p>
        </p:txBody>
      </p:sp>
      <p:sp>
        <p:nvSpPr>
          <p:cNvPr id="12" name="Shape 10"/>
          <p:cNvSpPr/>
          <p:nvPr/>
        </p:nvSpPr>
        <p:spPr>
          <a:xfrm>
            <a:off x="8101584" y="1325880"/>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13" name="Shape 11"/>
          <p:cNvSpPr/>
          <p:nvPr/>
        </p:nvSpPr>
        <p:spPr>
          <a:xfrm>
            <a:off x="8266176" y="1563624"/>
            <a:ext cx="457200" cy="457200"/>
          </a:xfrm>
          <a:prstGeom prst="ellipse">
            <a:avLst/>
          </a:prstGeom>
          <a:solidFill>
            <a:srgbClr val="1E2761"/>
          </a:solidFill>
          <a:ln/>
        </p:spPr>
      </p:sp>
      <p:sp>
        <p:nvSpPr>
          <p:cNvPr id="14" name="Text 12"/>
          <p:cNvSpPr txBox="1"/>
          <p:nvPr/>
        </p:nvSpPr>
        <p:spPr>
          <a:xfrm>
            <a:off x="8266176" y="1563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8851392" y="1325880"/>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Team Management</a:t>
            </a:r>
            <a:endParaRPr lang="en-US" sz="1250" dirty="0"/>
          </a:p>
        </p:txBody>
      </p:sp>
      <p:sp>
        <p:nvSpPr>
          <p:cNvPr id="16" name="Shape 14"/>
          <p:cNvSpPr/>
          <p:nvPr/>
        </p:nvSpPr>
        <p:spPr>
          <a:xfrm>
            <a:off x="548640" y="2404872"/>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17" name="Shape 15"/>
          <p:cNvSpPr/>
          <p:nvPr/>
        </p:nvSpPr>
        <p:spPr>
          <a:xfrm>
            <a:off x="713232" y="2642616"/>
            <a:ext cx="457200" cy="457200"/>
          </a:xfrm>
          <a:prstGeom prst="ellipse">
            <a:avLst/>
          </a:prstGeom>
          <a:solidFill>
            <a:srgbClr val="4A5FD9"/>
          </a:solidFill>
          <a:ln/>
        </p:spPr>
      </p:sp>
      <p:sp>
        <p:nvSpPr>
          <p:cNvPr id="18" name="Text 16"/>
          <p:cNvSpPr txBox="1"/>
          <p:nvPr/>
        </p:nvSpPr>
        <p:spPr>
          <a:xfrm>
            <a:off x="713232" y="26426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298448" y="2404872"/>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Project Management</a:t>
            </a:r>
            <a:endParaRPr lang="en-US" sz="1250" dirty="0"/>
          </a:p>
        </p:txBody>
      </p:sp>
      <p:sp>
        <p:nvSpPr>
          <p:cNvPr id="20" name="Shape 18"/>
          <p:cNvSpPr/>
          <p:nvPr/>
        </p:nvSpPr>
        <p:spPr>
          <a:xfrm>
            <a:off x="4325112" y="2404872"/>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21" name="Shape 19"/>
          <p:cNvSpPr/>
          <p:nvPr/>
        </p:nvSpPr>
        <p:spPr>
          <a:xfrm>
            <a:off x="4489704" y="2642616"/>
            <a:ext cx="457200" cy="457200"/>
          </a:xfrm>
          <a:prstGeom prst="ellipse">
            <a:avLst/>
          </a:prstGeom>
          <a:solidFill>
            <a:srgbClr val="1E2761"/>
          </a:solidFill>
          <a:ln/>
        </p:spPr>
      </p:sp>
      <p:sp>
        <p:nvSpPr>
          <p:cNvPr id="22" name="Text 20"/>
          <p:cNvSpPr txBox="1"/>
          <p:nvPr/>
        </p:nvSpPr>
        <p:spPr>
          <a:xfrm>
            <a:off x="4489704" y="26426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5074920" y="2404872"/>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Project Module Management</a:t>
            </a:r>
            <a:endParaRPr lang="en-US" sz="1250" dirty="0"/>
          </a:p>
        </p:txBody>
      </p:sp>
      <p:sp>
        <p:nvSpPr>
          <p:cNvPr id="24" name="Shape 22"/>
          <p:cNvSpPr/>
          <p:nvPr/>
        </p:nvSpPr>
        <p:spPr>
          <a:xfrm>
            <a:off x="8101584" y="2404872"/>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25" name="Shape 23"/>
          <p:cNvSpPr/>
          <p:nvPr/>
        </p:nvSpPr>
        <p:spPr>
          <a:xfrm>
            <a:off x="8266176" y="2642616"/>
            <a:ext cx="457200" cy="457200"/>
          </a:xfrm>
          <a:prstGeom prst="ellipse">
            <a:avLst/>
          </a:prstGeom>
          <a:solidFill>
            <a:srgbClr val="4A5FD9"/>
          </a:solidFill>
          <a:ln/>
        </p:spPr>
      </p:sp>
      <p:sp>
        <p:nvSpPr>
          <p:cNvPr id="26" name="Text 24"/>
          <p:cNvSpPr txBox="1"/>
          <p:nvPr/>
        </p:nvSpPr>
        <p:spPr>
          <a:xfrm>
            <a:off x="8266176" y="26426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txBox="1"/>
          <p:nvPr/>
        </p:nvSpPr>
        <p:spPr>
          <a:xfrm>
            <a:off x="8851392" y="2404872"/>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Task Management</a:t>
            </a:r>
            <a:endParaRPr lang="en-US" sz="1250" dirty="0"/>
          </a:p>
        </p:txBody>
      </p:sp>
      <p:sp>
        <p:nvSpPr>
          <p:cNvPr id="28" name="Shape 26"/>
          <p:cNvSpPr/>
          <p:nvPr/>
        </p:nvSpPr>
        <p:spPr>
          <a:xfrm>
            <a:off x="548640" y="3483864"/>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29" name="Shape 27"/>
          <p:cNvSpPr/>
          <p:nvPr/>
        </p:nvSpPr>
        <p:spPr>
          <a:xfrm>
            <a:off x="713232" y="3721608"/>
            <a:ext cx="457200" cy="457200"/>
          </a:xfrm>
          <a:prstGeom prst="ellipse">
            <a:avLst/>
          </a:prstGeom>
          <a:solidFill>
            <a:srgbClr val="1E2761"/>
          </a:solidFill>
          <a:ln/>
        </p:spPr>
      </p:sp>
      <p:sp>
        <p:nvSpPr>
          <p:cNvPr id="30" name="Text 28"/>
          <p:cNvSpPr txBox="1"/>
          <p:nvPr/>
        </p:nvSpPr>
        <p:spPr>
          <a:xfrm>
            <a:off x="713232" y="3721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1" name="Text 29"/>
          <p:cNvSpPr txBox="1"/>
          <p:nvPr/>
        </p:nvSpPr>
        <p:spPr>
          <a:xfrm>
            <a:off x="1298448" y="3483864"/>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Daily Task Assignment</a:t>
            </a:r>
            <a:endParaRPr lang="en-US" sz="1250" dirty="0"/>
          </a:p>
        </p:txBody>
      </p:sp>
      <p:sp>
        <p:nvSpPr>
          <p:cNvPr id="32" name="Shape 30"/>
          <p:cNvSpPr/>
          <p:nvPr/>
        </p:nvSpPr>
        <p:spPr>
          <a:xfrm>
            <a:off x="4325112" y="3483864"/>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33" name="Shape 31"/>
          <p:cNvSpPr/>
          <p:nvPr/>
        </p:nvSpPr>
        <p:spPr>
          <a:xfrm>
            <a:off x="4489704" y="3721608"/>
            <a:ext cx="457200" cy="457200"/>
          </a:xfrm>
          <a:prstGeom prst="ellipse">
            <a:avLst/>
          </a:prstGeom>
          <a:solidFill>
            <a:srgbClr val="4A5FD9"/>
          </a:solidFill>
          <a:ln/>
        </p:spPr>
      </p:sp>
      <p:sp>
        <p:nvSpPr>
          <p:cNvPr id="34" name="Text 32"/>
          <p:cNvSpPr txBox="1"/>
          <p:nvPr/>
        </p:nvSpPr>
        <p:spPr>
          <a:xfrm>
            <a:off x="4489704" y="3721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5" name="Text 33"/>
          <p:cNvSpPr txBox="1"/>
          <p:nvPr/>
        </p:nvSpPr>
        <p:spPr>
          <a:xfrm>
            <a:off x="5074920" y="3483864"/>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Time Tracking</a:t>
            </a:r>
            <a:endParaRPr lang="en-US" sz="1250" dirty="0"/>
          </a:p>
        </p:txBody>
      </p:sp>
      <p:sp>
        <p:nvSpPr>
          <p:cNvPr id="36" name="Shape 34"/>
          <p:cNvSpPr/>
          <p:nvPr/>
        </p:nvSpPr>
        <p:spPr>
          <a:xfrm>
            <a:off x="8101584" y="3483864"/>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37" name="Shape 35"/>
          <p:cNvSpPr/>
          <p:nvPr/>
        </p:nvSpPr>
        <p:spPr>
          <a:xfrm>
            <a:off x="8266176" y="3721608"/>
            <a:ext cx="457200" cy="457200"/>
          </a:xfrm>
          <a:prstGeom prst="ellipse">
            <a:avLst/>
          </a:prstGeom>
          <a:solidFill>
            <a:srgbClr val="1E2761"/>
          </a:solidFill>
          <a:ln/>
        </p:spPr>
      </p:sp>
      <p:sp>
        <p:nvSpPr>
          <p:cNvPr id="38" name="Text 36"/>
          <p:cNvSpPr txBox="1"/>
          <p:nvPr/>
        </p:nvSpPr>
        <p:spPr>
          <a:xfrm>
            <a:off x="8266176" y="3721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9" name="Text 37"/>
          <p:cNvSpPr txBox="1"/>
          <p:nvPr/>
        </p:nvSpPr>
        <p:spPr>
          <a:xfrm>
            <a:off x="8851392" y="3483864"/>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Task Status Management</a:t>
            </a:r>
            <a:endParaRPr lang="en-US" sz="1250" dirty="0"/>
          </a:p>
        </p:txBody>
      </p:sp>
      <p:sp>
        <p:nvSpPr>
          <p:cNvPr id="40" name="Shape 38"/>
          <p:cNvSpPr/>
          <p:nvPr/>
        </p:nvSpPr>
        <p:spPr>
          <a:xfrm>
            <a:off x="548640" y="4562856"/>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41" name="Shape 39"/>
          <p:cNvSpPr/>
          <p:nvPr/>
        </p:nvSpPr>
        <p:spPr>
          <a:xfrm>
            <a:off x="713232" y="4800600"/>
            <a:ext cx="457200" cy="457200"/>
          </a:xfrm>
          <a:prstGeom prst="ellipse">
            <a:avLst/>
          </a:prstGeom>
          <a:solidFill>
            <a:srgbClr val="4A5FD9"/>
          </a:solidFill>
          <a:ln/>
        </p:spPr>
      </p:sp>
      <p:sp>
        <p:nvSpPr>
          <p:cNvPr id="42" name="Text 40"/>
          <p:cNvSpPr txBox="1"/>
          <p:nvPr/>
        </p:nvSpPr>
        <p:spPr>
          <a:xfrm>
            <a:off x="713232" y="4800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3" name="Text 41"/>
          <p:cNvSpPr txBox="1"/>
          <p:nvPr/>
        </p:nvSpPr>
        <p:spPr>
          <a:xfrm>
            <a:off x="1298448" y="4562856"/>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Project Progress Tracking</a:t>
            </a:r>
            <a:endParaRPr lang="en-US" sz="1250" dirty="0"/>
          </a:p>
        </p:txBody>
      </p:sp>
      <p:sp>
        <p:nvSpPr>
          <p:cNvPr id="44" name="Shape 42"/>
          <p:cNvSpPr/>
          <p:nvPr/>
        </p:nvSpPr>
        <p:spPr>
          <a:xfrm>
            <a:off x="4325112" y="4562856"/>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45" name="Shape 43"/>
          <p:cNvSpPr/>
          <p:nvPr/>
        </p:nvSpPr>
        <p:spPr>
          <a:xfrm>
            <a:off x="4489704" y="4800600"/>
            <a:ext cx="457200" cy="457200"/>
          </a:xfrm>
          <a:prstGeom prst="ellipse">
            <a:avLst/>
          </a:prstGeom>
          <a:solidFill>
            <a:srgbClr val="1E2761"/>
          </a:solidFill>
          <a:ln/>
        </p:spPr>
      </p:sp>
      <p:sp>
        <p:nvSpPr>
          <p:cNvPr id="46" name="Text 44"/>
          <p:cNvSpPr txBox="1"/>
          <p:nvPr/>
        </p:nvSpPr>
        <p:spPr>
          <a:xfrm>
            <a:off x="4489704" y="4800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7" name="Text 45"/>
          <p:cNvSpPr txBox="1"/>
          <p:nvPr/>
        </p:nvSpPr>
        <p:spPr>
          <a:xfrm>
            <a:off x="5074920" y="4562856"/>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Employee Performance</a:t>
            </a:r>
            <a:endParaRPr lang="en-US" sz="1250" dirty="0"/>
          </a:p>
        </p:txBody>
      </p:sp>
      <p:sp>
        <p:nvSpPr>
          <p:cNvPr id="48" name="Shape 46"/>
          <p:cNvSpPr/>
          <p:nvPr/>
        </p:nvSpPr>
        <p:spPr>
          <a:xfrm>
            <a:off x="8101584" y="4562856"/>
            <a:ext cx="3611880" cy="932688"/>
          </a:xfrm>
          <a:prstGeom prst="roundRect">
            <a:avLst>
              <a:gd name="adj" fmla="val 7843"/>
            </a:avLst>
          </a:prstGeom>
          <a:solidFill>
            <a:srgbClr val="FFFFFF"/>
          </a:solidFill>
          <a:ln/>
          <a:effectLst>
            <a:outerShdw sx="100000" sy="100000" kx="0" ky="0" algn="bl" rotWithShape="0" blurRad="63500" dist="25400" dir="5400000">
              <a:srgbClr val="999999">
                <a:alpha val="20000"/>
              </a:srgbClr>
            </a:outerShdw>
          </a:effectLst>
        </p:spPr>
      </p:sp>
      <p:sp>
        <p:nvSpPr>
          <p:cNvPr id="49" name="Shape 47"/>
          <p:cNvSpPr/>
          <p:nvPr/>
        </p:nvSpPr>
        <p:spPr>
          <a:xfrm>
            <a:off x="8266176" y="4800600"/>
            <a:ext cx="457200" cy="457200"/>
          </a:xfrm>
          <a:prstGeom prst="ellipse">
            <a:avLst/>
          </a:prstGeom>
          <a:solidFill>
            <a:srgbClr val="4A5FD9"/>
          </a:solidFill>
          <a:ln/>
        </p:spPr>
      </p:sp>
      <p:sp>
        <p:nvSpPr>
          <p:cNvPr id="50" name="Text 48"/>
          <p:cNvSpPr txBox="1"/>
          <p:nvPr/>
        </p:nvSpPr>
        <p:spPr>
          <a:xfrm>
            <a:off x="8266176" y="4800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51" name="Text 49"/>
          <p:cNvSpPr txBox="1"/>
          <p:nvPr/>
        </p:nvSpPr>
        <p:spPr>
          <a:xfrm>
            <a:off x="8851392" y="4562856"/>
            <a:ext cx="2697480" cy="932688"/>
          </a:xfrm>
          <a:prstGeom prst="rect">
            <a:avLst/>
          </a:prstGeom>
          <a:noFill/>
          <a:ln/>
        </p:spPr>
        <p:txBody>
          <a:bodyPr wrap="square" lIns="0" tIns="0" rIns="0" bIns="0" rtlCol="0" anchor="ctr"/>
          <a:lstStyle/>
          <a:p>
            <a:pPr indent="0" marL="0">
              <a:lnSpc>
                <a:spcPct val="105000"/>
              </a:lnSpc>
              <a:buNone/>
            </a:pPr>
            <a:r>
              <a:rPr lang="en-US" sz="1250" b="1" dirty="0">
                <a:solidFill>
                  <a:srgbClr val="222633"/>
                </a:solidFill>
                <a:latin typeface="Calibri" pitchFamily="34" charset="0"/>
                <a:ea typeface="Calibri" pitchFamily="34" charset="-122"/>
                <a:cs typeface="Calibri" pitchFamily="34" charset="-120"/>
              </a:rPr>
              <a:t>Performance Analytics &amp; Reports</a:t>
            </a:r>
            <a:endParaRPr lang="en-US" sz="1250" dirty="0"/>
          </a:p>
        </p:txBody>
      </p:sp>
      <p:sp>
        <p:nvSpPr>
          <p:cNvPr id="52" name="Text 5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Employee Project, Task &amp; Performance Management System</a:t>
            </a:r>
            <a:endParaRPr lang="en-US" sz="1000" dirty="0"/>
          </a:p>
        </p:txBody>
      </p:sp>
      <p:sp>
        <p:nvSpPr>
          <p:cNvPr id="53" name="Text 51"/>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50292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Complete System Workflow</a:t>
            </a:r>
            <a:endParaRPr lang="en-US" sz="2800" dirty="0"/>
          </a:p>
        </p:txBody>
      </p:sp>
      <p:sp>
        <p:nvSpPr>
          <p:cNvPr id="3" name="Text 1"/>
          <p:cNvSpPr txBox="1"/>
          <p:nvPr/>
        </p:nvSpPr>
        <p:spPr>
          <a:xfrm>
            <a:off x="548640" y="859536"/>
            <a:ext cx="9601200" cy="32004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From project creation to performance reporting — the end-to-end flow</a:t>
            </a:r>
            <a:endParaRPr lang="en-US" sz="1300" dirty="0"/>
          </a:p>
        </p:txBody>
      </p:sp>
      <p:sp>
        <p:nvSpPr>
          <p:cNvPr id="4" name="Shape 2"/>
          <p:cNvSpPr/>
          <p:nvPr/>
        </p:nvSpPr>
        <p:spPr>
          <a:xfrm>
            <a:off x="548640" y="1417320"/>
            <a:ext cx="384048" cy="384048"/>
          </a:xfrm>
          <a:prstGeom prst="ellipse">
            <a:avLst/>
          </a:prstGeom>
          <a:solidFill>
            <a:srgbClr val="1E2761"/>
          </a:solidFill>
          <a:ln/>
        </p:spPr>
      </p:sp>
      <p:sp>
        <p:nvSpPr>
          <p:cNvPr id="5" name="Text 3"/>
          <p:cNvSpPr txBox="1"/>
          <p:nvPr/>
        </p:nvSpPr>
        <p:spPr>
          <a:xfrm>
            <a:off x="54864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78992" y="1389888"/>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Superior creates a Project (scope, timeline, priority)</a:t>
            </a:r>
            <a:endParaRPr lang="en-US" sz="1200" dirty="0"/>
          </a:p>
        </p:txBody>
      </p:sp>
      <p:sp>
        <p:nvSpPr>
          <p:cNvPr id="7" name="Shape 5"/>
          <p:cNvSpPr/>
          <p:nvPr/>
        </p:nvSpPr>
        <p:spPr>
          <a:xfrm>
            <a:off x="548640" y="2203704"/>
            <a:ext cx="384048" cy="384048"/>
          </a:xfrm>
          <a:prstGeom prst="ellipse">
            <a:avLst/>
          </a:prstGeom>
          <a:solidFill>
            <a:srgbClr val="1E2761"/>
          </a:solidFill>
          <a:ln/>
        </p:spPr>
      </p:sp>
      <p:sp>
        <p:nvSpPr>
          <p:cNvPr id="8" name="Text 6"/>
          <p:cNvSpPr txBox="1"/>
          <p:nvPr/>
        </p:nvSpPr>
        <p:spPr>
          <a:xfrm>
            <a:off x="548640" y="22037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078992" y="2176272"/>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Superior creates/selects a Team &amp; assigns a Team Lead</a:t>
            </a:r>
            <a:endParaRPr lang="en-US" sz="1200" dirty="0"/>
          </a:p>
        </p:txBody>
      </p:sp>
      <p:sp>
        <p:nvSpPr>
          <p:cNvPr id="10" name="Shape 8"/>
          <p:cNvSpPr/>
          <p:nvPr/>
        </p:nvSpPr>
        <p:spPr>
          <a:xfrm>
            <a:off x="548640" y="2990088"/>
            <a:ext cx="384048" cy="384048"/>
          </a:xfrm>
          <a:prstGeom prst="ellipse">
            <a:avLst/>
          </a:prstGeom>
          <a:solidFill>
            <a:srgbClr val="1E2761"/>
          </a:solidFill>
          <a:ln/>
        </p:spPr>
      </p:sp>
      <p:sp>
        <p:nvSpPr>
          <p:cNvPr id="11" name="Text 9"/>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txBox="1"/>
          <p:nvPr/>
        </p:nvSpPr>
        <p:spPr>
          <a:xfrm>
            <a:off x="1078992" y="2962656"/>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Superior assigns the Project to the Team</a:t>
            </a:r>
            <a:endParaRPr lang="en-US" sz="1200" dirty="0"/>
          </a:p>
        </p:txBody>
      </p:sp>
      <p:sp>
        <p:nvSpPr>
          <p:cNvPr id="13" name="Shape 11"/>
          <p:cNvSpPr/>
          <p:nvPr/>
        </p:nvSpPr>
        <p:spPr>
          <a:xfrm>
            <a:off x="548640" y="3776472"/>
            <a:ext cx="384048" cy="384048"/>
          </a:xfrm>
          <a:prstGeom prst="ellipse">
            <a:avLst/>
          </a:prstGeom>
          <a:solidFill>
            <a:srgbClr val="4A5FD9"/>
          </a:solidFill>
          <a:ln/>
        </p:spPr>
      </p:sp>
      <p:sp>
        <p:nvSpPr>
          <p:cNvPr id="14" name="Text 12"/>
          <p:cNvSpPr txBox="1"/>
          <p:nvPr/>
        </p:nvSpPr>
        <p:spPr>
          <a:xfrm>
            <a:off x="548640"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txBox="1"/>
          <p:nvPr/>
        </p:nvSpPr>
        <p:spPr>
          <a:xfrm>
            <a:off x="1078992" y="3749040"/>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Team Lead breaks the Project into Modules</a:t>
            </a:r>
            <a:endParaRPr lang="en-US" sz="1200" dirty="0"/>
          </a:p>
        </p:txBody>
      </p:sp>
      <p:sp>
        <p:nvSpPr>
          <p:cNvPr id="16" name="Shape 14"/>
          <p:cNvSpPr/>
          <p:nvPr/>
        </p:nvSpPr>
        <p:spPr>
          <a:xfrm>
            <a:off x="548640" y="4562856"/>
            <a:ext cx="384048" cy="384048"/>
          </a:xfrm>
          <a:prstGeom prst="ellipse">
            <a:avLst/>
          </a:prstGeom>
          <a:solidFill>
            <a:srgbClr val="4A5FD9"/>
          </a:solidFill>
          <a:ln/>
        </p:spPr>
      </p:sp>
      <p:sp>
        <p:nvSpPr>
          <p:cNvPr id="17" name="Text 15"/>
          <p:cNvSpPr txBox="1"/>
          <p:nvPr/>
        </p:nvSpPr>
        <p:spPr>
          <a:xfrm>
            <a:off x="548640" y="4562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txBox="1"/>
          <p:nvPr/>
        </p:nvSpPr>
        <p:spPr>
          <a:xfrm>
            <a:off x="1078992" y="4535424"/>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Team Lead creates Tasks, assigns them with estimated hours &amp; due dates</a:t>
            </a:r>
            <a:endParaRPr lang="en-US" sz="1200" dirty="0"/>
          </a:p>
        </p:txBody>
      </p:sp>
      <p:sp>
        <p:nvSpPr>
          <p:cNvPr id="19" name="Shape 17"/>
          <p:cNvSpPr/>
          <p:nvPr/>
        </p:nvSpPr>
        <p:spPr>
          <a:xfrm>
            <a:off x="548640" y="5349240"/>
            <a:ext cx="384048" cy="384048"/>
          </a:xfrm>
          <a:prstGeom prst="ellipse">
            <a:avLst/>
          </a:prstGeom>
          <a:solidFill>
            <a:srgbClr val="4A5FD9"/>
          </a:solidFill>
          <a:ln/>
        </p:spPr>
      </p:sp>
      <p:sp>
        <p:nvSpPr>
          <p:cNvPr id="20" name="Text 18"/>
          <p:cNvSpPr txBox="1"/>
          <p:nvPr/>
        </p:nvSpPr>
        <p:spPr>
          <a:xfrm>
            <a:off x="548640" y="5349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txBox="1"/>
          <p:nvPr/>
        </p:nvSpPr>
        <p:spPr>
          <a:xfrm>
            <a:off x="1078992" y="5321808"/>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Team Lead builds the Daily Work Plan across the team</a:t>
            </a:r>
            <a:endParaRPr lang="en-US" sz="1200" dirty="0"/>
          </a:p>
        </p:txBody>
      </p:sp>
      <p:sp>
        <p:nvSpPr>
          <p:cNvPr id="22" name="Shape 20"/>
          <p:cNvSpPr/>
          <p:nvPr/>
        </p:nvSpPr>
        <p:spPr>
          <a:xfrm>
            <a:off x="6355080" y="1417320"/>
            <a:ext cx="384048" cy="384048"/>
          </a:xfrm>
          <a:prstGeom prst="ellipse">
            <a:avLst/>
          </a:prstGeom>
          <a:solidFill>
            <a:srgbClr val="4A5FD9"/>
          </a:solidFill>
          <a:ln/>
        </p:spPr>
      </p:sp>
      <p:sp>
        <p:nvSpPr>
          <p:cNvPr id="23" name="Text 21"/>
          <p:cNvSpPr txBox="1"/>
          <p:nvPr/>
        </p:nvSpPr>
        <p:spPr>
          <a:xfrm>
            <a:off x="6355080" y="14173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4" name="Text 22"/>
          <p:cNvSpPr txBox="1"/>
          <p:nvPr/>
        </p:nvSpPr>
        <p:spPr>
          <a:xfrm>
            <a:off x="6885432" y="1389888"/>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Team Members start tasks &amp; track time (pause/resume as needed)</a:t>
            </a:r>
            <a:endParaRPr lang="en-US" sz="1200" dirty="0"/>
          </a:p>
        </p:txBody>
      </p:sp>
      <p:sp>
        <p:nvSpPr>
          <p:cNvPr id="25" name="Shape 23"/>
          <p:cNvSpPr/>
          <p:nvPr/>
        </p:nvSpPr>
        <p:spPr>
          <a:xfrm>
            <a:off x="6355080" y="2203704"/>
            <a:ext cx="384048" cy="384048"/>
          </a:xfrm>
          <a:prstGeom prst="ellipse">
            <a:avLst/>
          </a:prstGeom>
          <a:solidFill>
            <a:srgbClr val="4A5FD9"/>
          </a:solidFill>
          <a:ln/>
        </p:spPr>
      </p:sp>
      <p:sp>
        <p:nvSpPr>
          <p:cNvPr id="26" name="Text 24"/>
          <p:cNvSpPr txBox="1"/>
          <p:nvPr/>
        </p:nvSpPr>
        <p:spPr>
          <a:xfrm>
            <a:off x="6355080" y="22037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7" name="Text 25"/>
          <p:cNvSpPr txBox="1"/>
          <p:nvPr/>
        </p:nvSpPr>
        <p:spPr>
          <a:xfrm>
            <a:off x="6885432" y="2176272"/>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Team Members complete tasks, add remarks, upload evidence</a:t>
            </a:r>
            <a:endParaRPr lang="en-US" sz="1200" dirty="0"/>
          </a:p>
        </p:txBody>
      </p:sp>
      <p:sp>
        <p:nvSpPr>
          <p:cNvPr id="28" name="Shape 26"/>
          <p:cNvSpPr/>
          <p:nvPr/>
        </p:nvSpPr>
        <p:spPr>
          <a:xfrm>
            <a:off x="6355080" y="2990088"/>
            <a:ext cx="384048" cy="384048"/>
          </a:xfrm>
          <a:prstGeom prst="ellipse">
            <a:avLst/>
          </a:prstGeom>
          <a:solidFill>
            <a:srgbClr val="4A5FD9"/>
          </a:solidFill>
          <a:ln/>
        </p:spPr>
      </p:sp>
      <p:sp>
        <p:nvSpPr>
          <p:cNvPr id="29" name="Text 27"/>
          <p:cNvSpPr txBox="1"/>
          <p:nvPr/>
        </p:nvSpPr>
        <p:spPr>
          <a:xfrm>
            <a:off x="635508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0" name="Text 28"/>
          <p:cNvSpPr txBox="1"/>
          <p:nvPr/>
        </p:nvSpPr>
        <p:spPr>
          <a:xfrm>
            <a:off x="6885432" y="2962656"/>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Team Lead reviews &amp; approves / rejects submitted work</a:t>
            </a:r>
            <a:endParaRPr lang="en-US" sz="1200" dirty="0"/>
          </a:p>
        </p:txBody>
      </p:sp>
      <p:sp>
        <p:nvSpPr>
          <p:cNvPr id="31" name="Shape 29"/>
          <p:cNvSpPr/>
          <p:nvPr/>
        </p:nvSpPr>
        <p:spPr>
          <a:xfrm>
            <a:off x="6355080" y="3776472"/>
            <a:ext cx="384048" cy="384048"/>
          </a:xfrm>
          <a:prstGeom prst="ellipse">
            <a:avLst/>
          </a:prstGeom>
          <a:solidFill>
            <a:srgbClr val="5B6EE8"/>
          </a:solidFill>
          <a:ln/>
        </p:spPr>
      </p:sp>
      <p:sp>
        <p:nvSpPr>
          <p:cNvPr id="32" name="Text 30"/>
          <p:cNvSpPr txBox="1"/>
          <p:nvPr/>
        </p:nvSpPr>
        <p:spPr>
          <a:xfrm>
            <a:off x="6355080"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3" name="Text 31"/>
          <p:cNvSpPr txBox="1"/>
          <p:nvPr/>
        </p:nvSpPr>
        <p:spPr>
          <a:xfrm>
            <a:off x="6885432" y="3749040"/>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Approved tasks roll up: Module Completion → Project Progress</a:t>
            </a:r>
            <a:endParaRPr lang="en-US" sz="1200" dirty="0"/>
          </a:p>
        </p:txBody>
      </p:sp>
      <p:sp>
        <p:nvSpPr>
          <p:cNvPr id="34" name="Shape 32"/>
          <p:cNvSpPr/>
          <p:nvPr/>
        </p:nvSpPr>
        <p:spPr>
          <a:xfrm>
            <a:off x="6355080" y="4562856"/>
            <a:ext cx="384048" cy="384048"/>
          </a:xfrm>
          <a:prstGeom prst="ellipse">
            <a:avLst/>
          </a:prstGeom>
          <a:solidFill>
            <a:srgbClr val="5B6EE8"/>
          </a:solidFill>
          <a:ln/>
        </p:spPr>
      </p:sp>
      <p:sp>
        <p:nvSpPr>
          <p:cNvPr id="35" name="Text 33"/>
          <p:cNvSpPr txBox="1"/>
          <p:nvPr/>
        </p:nvSpPr>
        <p:spPr>
          <a:xfrm>
            <a:off x="6355080" y="4562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6" name="Text 34"/>
          <p:cNvSpPr txBox="1"/>
          <p:nvPr/>
        </p:nvSpPr>
        <p:spPr>
          <a:xfrm>
            <a:off x="6885432" y="4535424"/>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Time &amp; status data continuously feed Employee Performance</a:t>
            </a:r>
            <a:endParaRPr lang="en-US" sz="1200" dirty="0"/>
          </a:p>
        </p:txBody>
      </p:sp>
      <p:sp>
        <p:nvSpPr>
          <p:cNvPr id="37" name="Shape 35"/>
          <p:cNvSpPr/>
          <p:nvPr/>
        </p:nvSpPr>
        <p:spPr>
          <a:xfrm>
            <a:off x="6355080" y="5349240"/>
            <a:ext cx="384048" cy="384048"/>
          </a:xfrm>
          <a:prstGeom prst="ellipse">
            <a:avLst/>
          </a:prstGeom>
          <a:solidFill>
            <a:srgbClr val="5B6EE8"/>
          </a:solidFill>
          <a:ln/>
        </p:spPr>
      </p:sp>
      <p:sp>
        <p:nvSpPr>
          <p:cNvPr id="38" name="Text 36"/>
          <p:cNvSpPr txBox="1"/>
          <p:nvPr/>
        </p:nvSpPr>
        <p:spPr>
          <a:xfrm>
            <a:off x="6355080" y="53492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39" name="Text 37"/>
          <p:cNvSpPr txBox="1"/>
          <p:nvPr/>
        </p:nvSpPr>
        <p:spPr>
          <a:xfrm>
            <a:off x="6885432" y="5321808"/>
            <a:ext cx="4892040" cy="694944"/>
          </a:xfrm>
          <a:prstGeom prst="rect">
            <a:avLst/>
          </a:prstGeom>
          <a:noFill/>
          <a:ln/>
        </p:spPr>
        <p:txBody>
          <a:bodyPr wrap="square" lIns="0" tIns="0" rIns="0" bIns="0" rtlCol="0" anchor="ctr"/>
          <a:lstStyle/>
          <a:p>
            <a:pPr indent="0" marL="0">
              <a:lnSpc>
                <a:spcPct val="110000"/>
              </a:lnSpc>
              <a:buNone/>
            </a:pPr>
            <a:r>
              <a:rPr lang="en-US" sz="1200" dirty="0">
                <a:solidFill>
                  <a:srgbClr val="222633"/>
                </a:solidFill>
                <a:latin typeface="Calibri" pitchFamily="34" charset="0"/>
                <a:ea typeface="Calibri" pitchFamily="34" charset="-122"/>
                <a:cs typeface="Calibri" pitchFamily="34" charset="-120"/>
              </a:rPr>
              <a:t>Superior &amp; Team Lead access Reports &amp; Analytics at any point</a:t>
            </a:r>
            <a:endParaRPr lang="en-US" sz="1200" dirty="0"/>
          </a:p>
        </p:txBody>
      </p:sp>
      <p:sp>
        <p:nvSpPr>
          <p:cNvPr id="40" name="Text 38"/>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Employee Project, Task &amp; Performance Management System</a:t>
            </a:r>
            <a:endParaRPr lang="en-US" sz="1000" dirty="0"/>
          </a:p>
        </p:txBody>
      </p:sp>
      <p:sp>
        <p:nvSpPr>
          <p:cNvPr id="41" name="Text 39"/>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100584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Recommended Architecture</a:t>
            </a:r>
            <a:endParaRPr lang="en-US" sz="2800" dirty="0"/>
          </a:p>
        </p:txBody>
      </p:sp>
      <p:sp>
        <p:nvSpPr>
          <p:cNvPr id="3" name="Text 1"/>
          <p:cNvSpPr txBox="1"/>
          <p:nvPr/>
        </p:nvSpPr>
        <p:spPr>
          <a:xfrm>
            <a:off x="548640" y="914400"/>
            <a:ext cx="91440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 modular, layered architecture</a:t>
            </a:r>
            <a:endParaRPr lang="en-US" sz="1300" dirty="0"/>
          </a:p>
        </p:txBody>
      </p:sp>
      <p:sp>
        <p:nvSpPr>
          <p:cNvPr id="4" name="Shape 2"/>
          <p:cNvSpPr/>
          <p:nvPr/>
        </p:nvSpPr>
        <p:spPr>
          <a:xfrm>
            <a:off x="548640" y="1417320"/>
            <a:ext cx="6126480" cy="713232"/>
          </a:xfrm>
          <a:prstGeom prst="roundRect">
            <a:avLst>
              <a:gd name="adj" fmla="val 7692"/>
            </a:avLst>
          </a:prstGeom>
          <a:solidFill>
            <a:srgbClr val="334299"/>
          </a:solidFill>
          <a:ln w="12700">
            <a:solidFill>
              <a:srgbClr val="4A5FD9"/>
            </a:solidFill>
            <a:prstDash val="solid"/>
          </a:ln>
        </p:spPr>
      </p:sp>
      <p:sp>
        <p:nvSpPr>
          <p:cNvPr id="5" name="Text 3"/>
          <p:cNvSpPr txBox="1"/>
          <p:nvPr/>
        </p:nvSpPr>
        <p:spPr>
          <a:xfrm>
            <a:off x="777240" y="1481328"/>
            <a:ext cx="56692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Presentation Layer</a:t>
            </a:r>
            <a:endParaRPr lang="en-US" sz="1350" dirty="0"/>
          </a:p>
        </p:txBody>
      </p:sp>
      <p:sp>
        <p:nvSpPr>
          <p:cNvPr id="6" name="Text 4"/>
          <p:cNvSpPr txBox="1"/>
          <p:nvPr/>
        </p:nvSpPr>
        <p:spPr>
          <a:xfrm>
            <a:off x="777240" y="1764792"/>
            <a:ext cx="566928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React — role-based dashboards, forms, charts</a:t>
            </a:r>
            <a:endParaRPr lang="en-US" sz="1050" dirty="0"/>
          </a:p>
        </p:txBody>
      </p:sp>
      <p:sp>
        <p:nvSpPr>
          <p:cNvPr id="7" name="Shape 5"/>
          <p:cNvSpPr/>
          <p:nvPr/>
        </p:nvSpPr>
        <p:spPr>
          <a:xfrm>
            <a:off x="548640" y="2221992"/>
            <a:ext cx="6126480" cy="713232"/>
          </a:xfrm>
          <a:prstGeom prst="roundRect">
            <a:avLst>
              <a:gd name="adj" fmla="val 7692"/>
            </a:avLst>
          </a:prstGeom>
          <a:solidFill>
            <a:srgbClr val="2A3585"/>
          </a:solidFill>
          <a:ln w="12700">
            <a:solidFill>
              <a:srgbClr val="4A5FD9"/>
            </a:solidFill>
            <a:prstDash val="solid"/>
          </a:ln>
        </p:spPr>
      </p:sp>
      <p:sp>
        <p:nvSpPr>
          <p:cNvPr id="8" name="Text 6"/>
          <p:cNvSpPr txBox="1"/>
          <p:nvPr/>
        </p:nvSpPr>
        <p:spPr>
          <a:xfrm>
            <a:off x="777240" y="2286000"/>
            <a:ext cx="56692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API Layer</a:t>
            </a:r>
            <a:endParaRPr lang="en-US" sz="1350" dirty="0"/>
          </a:p>
        </p:txBody>
      </p:sp>
      <p:sp>
        <p:nvSpPr>
          <p:cNvPr id="9" name="Text 7"/>
          <p:cNvSpPr txBox="1"/>
          <p:nvPr/>
        </p:nvSpPr>
        <p:spPr>
          <a:xfrm>
            <a:off x="777240" y="2569464"/>
            <a:ext cx="566928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Express + REST — auth middleware, route controllers</a:t>
            </a:r>
            <a:endParaRPr lang="en-US" sz="1050" dirty="0"/>
          </a:p>
        </p:txBody>
      </p:sp>
      <p:sp>
        <p:nvSpPr>
          <p:cNvPr id="10" name="Shape 8"/>
          <p:cNvSpPr/>
          <p:nvPr/>
        </p:nvSpPr>
        <p:spPr>
          <a:xfrm>
            <a:off x="548640" y="3026664"/>
            <a:ext cx="6126480" cy="713232"/>
          </a:xfrm>
          <a:prstGeom prst="roundRect">
            <a:avLst>
              <a:gd name="adj" fmla="val 7692"/>
            </a:avLst>
          </a:prstGeom>
          <a:solidFill>
            <a:srgbClr val="334299"/>
          </a:solidFill>
          <a:ln w="12700">
            <a:solidFill>
              <a:srgbClr val="4A5FD9"/>
            </a:solidFill>
            <a:prstDash val="solid"/>
          </a:ln>
        </p:spPr>
      </p:sp>
      <p:sp>
        <p:nvSpPr>
          <p:cNvPr id="11" name="Text 9"/>
          <p:cNvSpPr txBox="1"/>
          <p:nvPr/>
        </p:nvSpPr>
        <p:spPr>
          <a:xfrm>
            <a:off x="777240" y="3090672"/>
            <a:ext cx="56692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Business Logic Layer</a:t>
            </a:r>
            <a:endParaRPr lang="en-US" sz="1350" dirty="0"/>
          </a:p>
        </p:txBody>
      </p:sp>
      <p:sp>
        <p:nvSpPr>
          <p:cNvPr id="12" name="Text 10"/>
          <p:cNvSpPr txBox="1"/>
          <p:nvPr/>
        </p:nvSpPr>
        <p:spPr>
          <a:xfrm>
            <a:off x="777240" y="3374136"/>
            <a:ext cx="566928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Progress calculation, performance scoring, status transitions</a:t>
            </a:r>
            <a:endParaRPr lang="en-US" sz="1050" dirty="0"/>
          </a:p>
        </p:txBody>
      </p:sp>
      <p:sp>
        <p:nvSpPr>
          <p:cNvPr id="13" name="Shape 11"/>
          <p:cNvSpPr/>
          <p:nvPr/>
        </p:nvSpPr>
        <p:spPr>
          <a:xfrm>
            <a:off x="548640" y="3831336"/>
            <a:ext cx="6126480" cy="713232"/>
          </a:xfrm>
          <a:prstGeom prst="roundRect">
            <a:avLst>
              <a:gd name="adj" fmla="val 7692"/>
            </a:avLst>
          </a:prstGeom>
          <a:solidFill>
            <a:srgbClr val="2A3585"/>
          </a:solidFill>
          <a:ln w="12700">
            <a:solidFill>
              <a:srgbClr val="4A5FD9"/>
            </a:solidFill>
            <a:prstDash val="solid"/>
          </a:ln>
        </p:spPr>
      </p:sp>
      <p:sp>
        <p:nvSpPr>
          <p:cNvPr id="14" name="Text 12"/>
          <p:cNvSpPr txBox="1"/>
          <p:nvPr/>
        </p:nvSpPr>
        <p:spPr>
          <a:xfrm>
            <a:off x="777240" y="3895344"/>
            <a:ext cx="56692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 Access Layer</a:t>
            </a:r>
            <a:endParaRPr lang="en-US" sz="1350" dirty="0"/>
          </a:p>
        </p:txBody>
      </p:sp>
      <p:sp>
        <p:nvSpPr>
          <p:cNvPr id="15" name="Text 13"/>
          <p:cNvSpPr txBox="1"/>
          <p:nvPr/>
        </p:nvSpPr>
        <p:spPr>
          <a:xfrm>
            <a:off x="777240" y="4178808"/>
            <a:ext cx="566928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Prisma ORM</a:t>
            </a:r>
            <a:endParaRPr lang="en-US" sz="1050" dirty="0"/>
          </a:p>
        </p:txBody>
      </p:sp>
      <p:sp>
        <p:nvSpPr>
          <p:cNvPr id="16" name="Shape 14"/>
          <p:cNvSpPr/>
          <p:nvPr/>
        </p:nvSpPr>
        <p:spPr>
          <a:xfrm>
            <a:off x="548640" y="4636008"/>
            <a:ext cx="6126480" cy="713232"/>
          </a:xfrm>
          <a:prstGeom prst="roundRect">
            <a:avLst>
              <a:gd name="adj" fmla="val 7692"/>
            </a:avLst>
          </a:prstGeom>
          <a:solidFill>
            <a:srgbClr val="334299"/>
          </a:solidFill>
          <a:ln w="12700">
            <a:solidFill>
              <a:srgbClr val="4A5FD9"/>
            </a:solidFill>
            <a:prstDash val="solid"/>
          </a:ln>
        </p:spPr>
      </p:sp>
      <p:sp>
        <p:nvSpPr>
          <p:cNvPr id="17" name="Text 15"/>
          <p:cNvSpPr txBox="1"/>
          <p:nvPr/>
        </p:nvSpPr>
        <p:spPr>
          <a:xfrm>
            <a:off x="777240" y="4700016"/>
            <a:ext cx="566928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Database</a:t>
            </a:r>
            <a:endParaRPr lang="en-US" sz="1350" dirty="0"/>
          </a:p>
        </p:txBody>
      </p:sp>
      <p:sp>
        <p:nvSpPr>
          <p:cNvPr id="18" name="Text 16"/>
          <p:cNvSpPr txBox="1"/>
          <p:nvPr/>
        </p:nvSpPr>
        <p:spPr>
          <a:xfrm>
            <a:off x="777240" y="4983480"/>
            <a:ext cx="5669280" cy="292608"/>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PostgreSQL</a:t>
            </a:r>
            <a:endParaRPr lang="en-US" sz="1050" dirty="0"/>
          </a:p>
        </p:txBody>
      </p:sp>
      <p:sp>
        <p:nvSpPr>
          <p:cNvPr id="19" name="Shape 17"/>
          <p:cNvSpPr/>
          <p:nvPr/>
        </p:nvSpPr>
        <p:spPr>
          <a:xfrm>
            <a:off x="7040880" y="1417320"/>
            <a:ext cx="4572000" cy="4160520"/>
          </a:xfrm>
          <a:prstGeom prst="roundRect">
            <a:avLst>
              <a:gd name="adj" fmla="val 2198"/>
            </a:avLst>
          </a:prstGeom>
          <a:solidFill>
            <a:srgbClr val="FFFFFF"/>
          </a:solidFill>
          <a:ln/>
          <a:effectLst>
            <a:outerShdw sx="100000" sy="100000" kx="0" ky="0" algn="bl" rotWithShape="0" blurRad="127000" dist="38100" dir="5400000">
              <a:srgbClr val="000000">
                <a:alpha val="30000"/>
              </a:srgbClr>
            </a:outerShdw>
          </a:effectLst>
        </p:spPr>
      </p:sp>
      <p:sp>
        <p:nvSpPr>
          <p:cNvPr id="20" name="Text 18"/>
          <p:cNvSpPr txBox="1"/>
          <p:nvPr/>
        </p:nvSpPr>
        <p:spPr>
          <a:xfrm>
            <a:off x="7360920" y="1691640"/>
            <a:ext cx="3931920" cy="320040"/>
          </a:xfrm>
          <a:prstGeom prst="rect">
            <a:avLst/>
          </a:prstGeom>
          <a:noFill/>
          <a:ln/>
        </p:spPr>
        <p:txBody>
          <a:bodyPr wrap="square" lIns="0" tIns="0" rIns="0" bIns="0" rtlCol="0" anchor="ctr"/>
          <a:lstStyle/>
          <a:p>
            <a:pPr indent="0" marL="0">
              <a:buNone/>
            </a:pPr>
            <a:r>
              <a:rPr lang="en-US" sz="1200" b="1" spc="150" kern="0" dirty="0">
                <a:solidFill>
                  <a:srgbClr val="4A5FD9"/>
                </a:solidFill>
                <a:latin typeface="Calibri" pitchFamily="34" charset="0"/>
                <a:ea typeface="Calibri" pitchFamily="34" charset="-122"/>
                <a:cs typeface="Calibri" pitchFamily="34" charset="-120"/>
              </a:rPr>
              <a:t>NAMING RECOMMENDATION</a:t>
            </a:r>
            <a:endParaRPr lang="en-US" sz="1200" dirty="0"/>
          </a:p>
        </p:txBody>
      </p:sp>
      <p:sp>
        <p:nvSpPr>
          <p:cNvPr id="21" name="Text 19"/>
          <p:cNvSpPr txBox="1"/>
          <p:nvPr/>
        </p:nvSpPr>
        <p:spPr>
          <a:xfrm>
            <a:off x="7360920" y="2057400"/>
            <a:ext cx="3931920" cy="502920"/>
          </a:xfrm>
          <a:prstGeom prst="rect">
            <a:avLst/>
          </a:prstGeom>
          <a:noFill/>
          <a:ln/>
        </p:spPr>
        <p:txBody>
          <a:bodyPr wrap="square" lIns="0" tIns="0" rIns="0" bIns="0" rtlCol="0" anchor="ctr"/>
          <a:lstStyle/>
          <a:p>
            <a:pPr indent="0" marL="0">
              <a:lnSpc>
                <a:spcPct val="120000"/>
              </a:lnSpc>
              <a:buNone/>
            </a:pPr>
            <a:r>
              <a:rPr lang="en-US" sz="1250" dirty="0">
                <a:solidFill>
                  <a:srgbClr val="222633"/>
                </a:solidFill>
                <a:latin typeface="Calibri" pitchFamily="34" charset="0"/>
                <a:ea typeface="Calibri" pitchFamily="34" charset="-122"/>
                <a:cs typeface="Calibri" pitchFamily="34" charset="-120"/>
              </a:rPr>
              <a:t>Rather than a simple “Task Management System,” frame it as:</a:t>
            </a:r>
            <a:endParaRPr lang="en-US" sz="1250" dirty="0"/>
          </a:p>
        </p:txBody>
      </p:sp>
      <p:sp>
        <p:nvSpPr>
          <p:cNvPr id="22" name="Shape 20"/>
          <p:cNvSpPr/>
          <p:nvPr/>
        </p:nvSpPr>
        <p:spPr>
          <a:xfrm>
            <a:off x="7360920" y="2651760"/>
            <a:ext cx="3931920" cy="0"/>
          </a:xfrm>
          <a:prstGeom prst="line">
            <a:avLst/>
          </a:prstGeom>
          <a:noFill/>
          <a:ln w="12700">
            <a:solidFill>
              <a:srgbClr val="E5E7EB"/>
            </a:solidFill>
            <a:prstDash val="solid"/>
          </a:ln>
        </p:spPr>
      </p:sp>
      <p:sp>
        <p:nvSpPr>
          <p:cNvPr id="23" name="Text 21"/>
          <p:cNvSpPr txBox="1"/>
          <p:nvPr/>
        </p:nvSpPr>
        <p:spPr>
          <a:xfrm>
            <a:off x="7360920" y="2834640"/>
            <a:ext cx="3931920" cy="1371600"/>
          </a:xfrm>
          <a:prstGeom prst="rect">
            <a:avLst/>
          </a:prstGeom>
          <a:noFill/>
          <a:ln/>
        </p:spPr>
        <p:txBody>
          <a:bodyPr wrap="square" lIns="0" tIns="0" rIns="0" bIns="0" rtlCol="0" anchor="ctr"/>
          <a:lstStyle/>
          <a:p>
            <a:pPr indent="0" marL="0">
              <a:lnSpc>
                <a:spcPct val="125000"/>
              </a:lnSpc>
              <a:buNone/>
            </a:pPr>
            <a:r>
              <a:rPr lang="en-US" sz="1700" b="1" i="1" dirty="0">
                <a:solidFill>
                  <a:srgbClr val="1E2761"/>
                </a:solidFill>
                <a:latin typeface="Cambria" pitchFamily="34" charset="0"/>
                <a:ea typeface="Cambria" pitchFamily="34" charset="-122"/>
                <a:cs typeface="Cambria" pitchFamily="34" charset="-120"/>
              </a:rPr>
              <a:t>A Project Lifecycle, Team Task Management, Time Tracking and Employee Performance Analytics Platform.</a:t>
            </a:r>
            <a:endParaRPr lang="en-US" sz="1700" dirty="0"/>
          </a:p>
        </p:txBody>
      </p:sp>
      <p:sp>
        <p:nvSpPr>
          <p:cNvPr id="24" name="Text 22"/>
          <p:cNvSpPr txBox="1"/>
          <p:nvPr/>
        </p:nvSpPr>
        <p:spPr>
          <a:xfrm>
            <a:off x="7360920" y="4343400"/>
            <a:ext cx="3931920" cy="109728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Calibri" pitchFamily="34" charset="0"/>
                <a:ea typeface="Calibri" pitchFamily="34" charset="-122"/>
                <a:cs typeface="Calibri" pitchFamily="34" charset="-120"/>
              </a:rPr>
              <a:t>This framing reflects full traceability from project assignment down to individual performance metrics — positioning it for a real company environment, not a basic to-do app.</a:t>
            </a:r>
            <a:endParaRPr lang="en-US" sz="1150" dirty="0"/>
          </a:p>
        </p:txBody>
      </p:sp>
      <p:sp>
        <p:nvSpPr>
          <p:cNvPr id="25" name="Text 2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Employee Project, Task &amp; Performance Management System</a:t>
            </a:r>
            <a:endParaRPr lang="en-US" sz="1000" dirty="0"/>
          </a:p>
        </p:txBody>
      </p:sp>
      <p:sp>
        <p:nvSpPr>
          <p:cNvPr id="26" name="Text 2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2026-09-03T06:30:25Z</dcterms:created>
  <dcterms:modified xsi:type="dcterms:W3CDTF">2026-09-03T06:30:25Z</dcterms:modified>
</cp:coreProperties>
</file>